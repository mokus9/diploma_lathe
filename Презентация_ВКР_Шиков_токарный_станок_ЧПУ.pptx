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6000"/>
    <a:srgbClr val="FFF5DC"/>
    <a:srgbClr val="0E3A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4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595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401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Обработка резанием для детей остаётся за закрытой дверью: настоящий станок опасен. Два тупика: уменьшенные взрослые станки и игрушки-имитации. Технические предпосылки — ESP32+GRBL и настольная 3D-печать — уже сложились.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доступный и безопасный станок с ЧПУ для детских мастерских. Восемь задач от анализа аналогов до оценки себестоимости.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 — обработка мягких материалов на ЧПУ в детской мастерской. Предмет — конструкция с открытой архитектурой управления. Научная новизна — пять технических решений как единое целое. Практическая значимость — воспроизводимость по STL.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аналогов по восьми критериям. Незанятая ниша: ни одно устройство не сочетает малую массу, 12 В, мягкие материалы, открытую архитектуру, печатное изготовление и детскую защиту.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ключевых проектных решения: парафин как материал обработки, питание 12 В от аккумулятора, PETG-печать с открытой системой управления.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Горизонтальная компоновка. DC-двигатель 12 В 915 об/мин через ременную передачу GT2. Два шаговых двигателя через TB6612FNG под ESP32. Шпиндель выведен из ЧПУ.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уникальные детали — FDM-печать из PETG. Рамная станина, шпиндельный узел с двумя подшипниками 608, задняя бабка с вращающимся центром, платформа резцедержателя, алюминиевые направляющие, </a:t>
            </a:r>
            <a:r>
              <a:rPr lang="en-US" dirty="0" err="1"/>
              <a:t>прозрачный</a:t>
            </a:r>
            <a:r>
              <a:rPr lang="en-US" dirty="0"/>
              <a:t> кожух из акрила.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Открытая архитектура: ESP32+GRBL, драйвер TB6612FNG, самодельная плата. Три контура. Беспроводная передача G-кода по Wi-Fi или Bluetooth. Питание 12 В, сети 220 В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направления безопасности: механическая, электрическая, пожарная, эргономическая. Нормативная база: ГОСТ 28139-89 и ГОСТ Р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Расстояние между бабками 220 мм, ход по Y 210 мм, погрешность плюс-минус 0,05 мм, дискретность 0,01 мм, диапазон 400-700 об/мин, питание 12 В. Учебные изделия: вазы, шахматные фигуры, конусы, ступенчатые валы.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Себестоимость 4-6 тысяч рублей. Замена узла 90-180 рублей. Основная статья — PETG-филамент 1800 рублей.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выводов: незанятая ниша, концепция три решения, конструкция двухкоординатная, ESP32 управление, технология PETG, безопасность по ГОСТ. Практическая значимость — воспроизводимость любым учреждением.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3304520" y="5074920"/>
            <a:ext cx="4663440" cy="4663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960120"/>
            <a:ext cx="15087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kern="0" spc="300" dirty="0">
                <a:solidFill>
                  <a:srgbClr val="8F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НИТУ «МИСИС»  ·  Институт экотехнологий и инжиниринга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097280" y="1536192"/>
            <a:ext cx="15087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>
                <a:solidFill>
                  <a:srgbClr val="9F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магистра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97280" y="2674620"/>
            <a:ext cx="15636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000"/>
              </a:lnSpc>
            </a:pPr>
            <a:r>
              <a:rPr lang="en-US" sz="4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малогабаритного токарного станка с элементами </a:t>
            </a:r>
            <a:r>
              <a:rPr lang="ru-RU" sz="4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числового программного управления</a:t>
            </a:r>
            <a:r>
              <a:rPr lang="en-US" sz="4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для обработки мягких материалов в условиях детской учебной мастерской</a:t>
            </a:r>
            <a:endParaRPr lang="en-US" sz="4950" dirty="0"/>
          </a:p>
        </p:txBody>
      </p:sp>
      <p:sp>
        <p:nvSpPr>
          <p:cNvPr id="6" name="Shape 3"/>
          <p:cNvSpPr/>
          <p:nvPr/>
        </p:nvSpPr>
        <p:spPr>
          <a:xfrm>
            <a:off x="1124712" y="5966460"/>
            <a:ext cx="2057400" cy="164592"/>
          </a:xfrm>
          <a:prstGeom prst="roundRect">
            <a:avLst>
              <a:gd name="adj" fmla="val 50000"/>
            </a:avLst>
          </a:prstGeom>
          <a:solidFill>
            <a:srgbClr val="E08A00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70637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kern="0" spc="30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97280" y="750265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М.С. </a:t>
            </a:r>
            <a:r>
              <a:rPr lang="en-US" sz="2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</a:t>
            </a:r>
            <a:r>
              <a:rPr lang="ru-RU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2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5212080" y="70637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kern="0" spc="30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212080" y="750265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А.Г. Тавитов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9326880" y="70637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kern="0" spc="30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326880" y="750265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15.04.02 Технологические машины и оборудование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97280" y="93954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>
                <a:solidFill>
                  <a:srgbClr val="8F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 ·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682766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6827663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и актуальность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38200" y="1713548"/>
            <a:ext cx="8818393" cy="1584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резанием — историческая основа инженерного мышления — для младшей аудитории остаётся </a:t>
            </a:r>
            <a:r>
              <a:rPr lang="en-US" sz="210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 закрытой дверью» </a:t>
            </a:r>
            <a:r>
              <a:rPr lang="en-US" sz="210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настоящий токарный станок опасен — высокие обороты, сеть 220 В, разлетающаяся стружка.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38200" y="3450908"/>
            <a:ext cx="8561547" cy="6321743"/>
          </a:xfrm>
          <a:prstGeom prst="roundRect">
            <a:avLst>
              <a:gd name="adj" fmla="val 1205"/>
            </a:avLst>
          </a:prstGeom>
          <a:ln w="7620">
            <a:solidFill>
              <a:srgbClr val="D5E3E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11898" r="11898"/>
          <a:stretch/>
        </p:blipFill>
        <p:spPr>
          <a:xfrm>
            <a:off x="845820" y="3458528"/>
            <a:ext cx="8546306" cy="630650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79170" y="9330690"/>
            <a:ext cx="4157782" cy="320040"/>
          </a:xfrm>
          <a:prstGeom prst="roundRect">
            <a:avLst>
              <a:gd name="adj" fmla="val 14881"/>
            </a:avLst>
          </a:prstGeom>
          <a:solidFill>
            <a:srgbClr val="0E3A4C">
              <a:alpha val="7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12520" y="9387840"/>
            <a:ext cx="401581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В · металлическая стружка · высокие обороты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666447" y="1713548"/>
            <a:ext cx="7783354" cy="124587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9666447" y="2951798"/>
            <a:ext cx="7783354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13" name="Shape 10"/>
          <p:cNvSpPr/>
          <p:nvPr/>
        </p:nvSpPr>
        <p:spPr>
          <a:xfrm>
            <a:off x="9666447" y="1713548"/>
            <a:ext cx="7783354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14" name="Shape 11"/>
          <p:cNvSpPr/>
          <p:nvPr/>
        </p:nvSpPr>
        <p:spPr>
          <a:xfrm>
            <a:off x="9666447" y="1713548"/>
            <a:ext cx="38100" cy="1245870"/>
          </a:xfrm>
          <a:prstGeom prst="rect">
            <a:avLst/>
          </a:prstGeom>
          <a:solidFill>
            <a:srgbClr val="B9433B"/>
          </a:solidFill>
          <a:ln/>
        </p:spPr>
      </p:sp>
      <p:sp>
        <p:nvSpPr>
          <p:cNvPr id="15" name="Shape 12"/>
          <p:cNvSpPr/>
          <p:nvPr/>
        </p:nvSpPr>
        <p:spPr>
          <a:xfrm>
            <a:off x="17442181" y="1713548"/>
            <a:ext cx="9525" cy="1245870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16" name="Shape 13"/>
          <p:cNvSpPr/>
          <p:nvPr/>
        </p:nvSpPr>
        <p:spPr>
          <a:xfrm>
            <a:off x="9914096" y="1911667"/>
            <a:ext cx="400050" cy="400050"/>
          </a:xfrm>
          <a:prstGeom prst="roundRect">
            <a:avLst>
              <a:gd name="adj" fmla="val 9524"/>
            </a:avLst>
          </a:prstGeom>
          <a:solidFill>
            <a:srgbClr val="0E3A4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14096" y="1911667"/>
            <a:ext cx="400050" cy="4000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466546" y="1911667"/>
            <a:ext cx="744269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Уменьшенные «взрослые» станки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0466546" y="2227898"/>
            <a:ext cx="69690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Наследуют все опасности оригинала — сеть, обороты, металлическая стружка.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9666447" y="3111818"/>
            <a:ext cx="7783354" cy="124587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9666447" y="4350068"/>
            <a:ext cx="7783354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2" name="Shape 18"/>
          <p:cNvSpPr/>
          <p:nvPr/>
        </p:nvSpPr>
        <p:spPr>
          <a:xfrm>
            <a:off x="9666447" y="3111818"/>
            <a:ext cx="7783354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3" name="Shape 19"/>
          <p:cNvSpPr/>
          <p:nvPr/>
        </p:nvSpPr>
        <p:spPr>
          <a:xfrm>
            <a:off x="9666447" y="3111818"/>
            <a:ext cx="38100" cy="1245870"/>
          </a:xfrm>
          <a:prstGeom prst="rect">
            <a:avLst/>
          </a:prstGeom>
          <a:solidFill>
            <a:srgbClr val="B9433B"/>
          </a:solidFill>
          <a:ln/>
        </p:spPr>
      </p:sp>
      <p:sp>
        <p:nvSpPr>
          <p:cNvPr id="24" name="Shape 20"/>
          <p:cNvSpPr/>
          <p:nvPr/>
        </p:nvSpPr>
        <p:spPr>
          <a:xfrm>
            <a:off x="17442181" y="3111818"/>
            <a:ext cx="9525" cy="1245870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5" name="Shape 21"/>
          <p:cNvSpPr/>
          <p:nvPr/>
        </p:nvSpPr>
        <p:spPr>
          <a:xfrm>
            <a:off x="9914096" y="3309938"/>
            <a:ext cx="400050" cy="400050"/>
          </a:xfrm>
          <a:prstGeom prst="roundRect">
            <a:avLst>
              <a:gd name="adj" fmla="val 9524"/>
            </a:avLst>
          </a:prstGeom>
          <a:solidFill>
            <a:srgbClr val="0E3A4C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14096" y="3309938"/>
            <a:ext cx="400050" cy="40005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466546" y="3309938"/>
            <a:ext cx="744269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Игрушки-имитации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10466546" y="3626168"/>
            <a:ext cx="69690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Лишь изображают работу — не дают ни навыка, ни понимания устройства станка.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9666447" y="4510088"/>
            <a:ext cx="7783354" cy="5262563"/>
          </a:xfrm>
          <a:prstGeom prst="roundRect">
            <a:avLst>
              <a:gd name="adj" fmla="val 1086"/>
            </a:avLst>
          </a:prstGeom>
          <a:solidFill>
            <a:srgbClr val="0E3A4C"/>
          </a:solidFill>
          <a:ln/>
        </p:spPr>
      </p:sp>
      <p:sp>
        <p:nvSpPr>
          <p:cNvPr id="30" name="Text 25"/>
          <p:cNvSpPr/>
          <p:nvPr/>
        </p:nvSpPr>
        <p:spPr>
          <a:xfrm>
            <a:off x="9875996" y="4700588"/>
            <a:ext cx="810067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8F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ТЕХНИЧЕСКИЕ ПРЕДПОСЫЛКИ УЖЕ СЛОЖИЛИСЬ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9875996" y="5013007"/>
            <a:ext cx="3605927" cy="1021080"/>
          </a:xfrm>
          <a:prstGeom prst="roundRect">
            <a:avLst>
              <a:gd name="adj" fmla="val 466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10028396" y="5146357"/>
            <a:ext cx="363124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</a:t>
            </a:r>
            <a:endParaRPr lang="en-US" sz="1650" dirty="0"/>
          </a:p>
        </p:txBody>
      </p:sp>
      <p:sp>
        <p:nvSpPr>
          <p:cNvPr id="33" name="Text 28"/>
          <p:cNvSpPr/>
          <p:nvPr/>
        </p:nvSpPr>
        <p:spPr>
          <a:xfrm>
            <a:off x="10028396" y="5437823"/>
            <a:ext cx="3400161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Прозрачная система управления перемещениями</a:t>
            </a:r>
            <a:endParaRPr lang="en-US" sz="1350" dirty="0"/>
          </a:p>
        </p:txBody>
      </p:sp>
      <p:sp>
        <p:nvSpPr>
          <p:cNvPr id="34" name="Shape 29"/>
          <p:cNvSpPr/>
          <p:nvPr/>
        </p:nvSpPr>
        <p:spPr>
          <a:xfrm>
            <a:off x="13634324" y="5013007"/>
            <a:ext cx="3605927" cy="1021080"/>
          </a:xfrm>
          <a:prstGeom prst="roundRect">
            <a:avLst>
              <a:gd name="adj" fmla="val 466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5" name="Text 30"/>
          <p:cNvSpPr/>
          <p:nvPr/>
        </p:nvSpPr>
        <p:spPr>
          <a:xfrm>
            <a:off x="13786724" y="5146357"/>
            <a:ext cx="363124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Настольная 3D-печать</a:t>
            </a:r>
            <a:endParaRPr lang="en-US" sz="1650" dirty="0"/>
          </a:p>
        </p:txBody>
      </p:sp>
      <p:sp>
        <p:nvSpPr>
          <p:cNvPr id="36" name="Text 31"/>
          <p:cNvSpPr/>
          <p:nvPr/>
        </p:nvSpPr>
        <p:spPr>
          <a:xfrm>
            <a:off x="13786724" y="5437823"/>
            <a:ext cx="3400161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Несущие детали из полимера без станочного парка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378709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РАБОТЫ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3787093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38200" y="1694498"/>
            <a:ext cx="16611600" cy="1112520"/>
          </a:xfrm>
          <a:prstGeom prst="roundRect">
            <a:avLst>
              <a:gd name="adj" fmla="val 5137"/>
            </a:avLst>
          </a:prstGeom>
          <a:solidFill>
            <a:srgbClr val="0E3A4C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151698"/>
            <a:ext cx="58054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799749" y="1904048"/>
            <a:ext cx="1584485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Обеспечить учебные мастерские доступным и безопасным малогабаритным токарным станком с элементами ЧПУ для ознакомления детей с токарным делом — через разработку его конструкторско-технологического решения.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38200" y="2997518"/>
            <a:ext cx="1827276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13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РАБОТЫ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8200" y="3328988"/>
            <a:ext cx="8191500" cy="1539478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7270" y="3936802"/>
            <a:ext cx="323850" cy="3238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74470" y="3972997"/>
            <a:ext cx="68948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650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 и формирование требований к оборудованию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9258300" y="3328988"/>
            <a:ext cx="8191500" cy="1539478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37370" y="3936802"/>
            <a:ext cx="323850" cy="3238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94570" y="3972997"/>
            <a:ext cx="608690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650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Техническое задание и обоснование концепции станка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838200" y="4963716"/>
            <a:ext cx="8191500" cy="1539478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17270" y="5571530"/>
            <a:ext cx="323850" cy="3238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74470" y="5607725"/>
            <a:ext cx="652826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650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конструкции с двухкоординатной подачей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9258300" y="4963716"/>
            <a:ext cx="8191500" cy="1539478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37370" y="5571530"/>
            <a:ext cx="323850" cy="3238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94570" y="5607725"/>
            <a:ext cx="7165039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650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Базовые расчёты: приводы, режимы, точность позиционирования</a:t>
            </a:r>
            <a:endParaRPr lang="en-US" sz="1650" dirty="0"/>
          </a:p>
        </p:txBody>
      </p:sp>
      <p:sp>
        <p:nvSpPr>
          <p:cNvPr id="22" name="Shape 16"/>
          <p:cNvSpPr/>
          <p:nvPr/>
        </p:nvSpPr>
        <p:spPr>
          <a:xfrm>
            <a:off x="838200" y="6598444"/>
            <a:ext cx="8191500" cy="1539478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17270" y="7206258"/>
            <a:ext cx="323850" cy="3238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74470" y="7242453"/>
            <a:ext cx="606123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650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управления на ESP32 с открытой архитектурой</a:t>
            </a:r>
            <a:endParaRPr lang="en-US" sz="1650" dirty="0"/>
          </a:p>
        </p:txBody>
      </p:sp>
      <p:sp>
        <p:nvSpPr>
          <p:cNvPr id="25" name="Shape 18"/>
          <p:cNvSpPr/>
          <p:nvPr/>
        </p:nvSpPr>
        <p:spPr>
          <a:xfrm>
            <a:off x="9258300" y="6598444"/>
            <a:ext cx="8191500" cy="1539478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437370" y="7206258"/>
            <a:ext cx="323850" cy="3238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894570" y="7242453"/>
            <a:ext cx="542852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r>
              <a:rPr lang="en-US" sz="1650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3D-печати деталей и порядок сборки</a:t>
            </a:r>
            <a:endParaRPr lang="en-US" sz="1650" dirty="0"/>
          </a:p>
        </p:txBody>
      </p:sp>
      <p:sp>
        <p:nvSpPr>
          <p:cNvPr id="28" name="Shape 20"/>
          <p:cNvSpPr/>
          <p:nvPr/>
        </p:nvSpPr>
        <p:spPr>
          <a:xfrm>
            <a:off x="838200" y="8233172"/>
            <a:ext cx="8191500" cy="1539478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17270" y="8840986"/>
            <a:ext cx="323850" cy="32385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74470" y="8877181"/>
            <a:ext cx="693911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1650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Обоснование соответствия требованиям детской безопасности</a:t>
            </a:r>
            <a:endParaRPr lang="en-US" sz="1650" dirty="0"/>
          </a:p>
        </p:txBody>
      </p:sp>
      <p:sp>
        <p:nvSpPr>
          <p:cNvPr id="31" name="Shape 22"/>
          <p:cNvSpPr/>
          <p:nvPr/>
        </p:nvSpPr>
        <p:spPr>
          <a:xfrm>
            <a:off x="9258300" y="8233172"/>
            <a:ext cx="8191500" cy="1539478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437370" y="8840986"/>
            <a:ext cx="323850" cy="3238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894570" y="8877181"/>
            <a:ext cx="492337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</a:t>
            </a:r>
            <a:r>
              <a:rPr lang="en-US" sz="1650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себестоимости изготовления станка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713648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АППАРАТ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7136487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Объект, предмет и новизна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38200" y="1694498"/>
            <a:ext cx="4918353" cy="7015163"/>
          </a:xfrm>
          <a:prstGeom prst="roundRect">
            <a:avLst>
              <a:gd name="adj" fmla="val 1162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5370" y="1911667"/>
            <a:ext cx="493241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ИССЛЕДОВАНИЯ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5370" y="2205038"/>
            <a:ext cx="4618533" cy="1253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токарной обработки мягких материалов — парафин, воск, пеноматериалы — на оборудовании с ЧПУ в условиях детской учебной мастерской.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947053" y="1694498"/>
            <a:ext cx="4918353" cy="7015163"/>
          </a:xfrm>
          <a:prstGeom prst="roundRect">
            <a:avLst>
              <a:gd name="adj" fmla="val 1162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64223" y="1911667"/>
            <a:ext cx="493241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ИССЛЕДОВАНИЯ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4223" y="2205038"/>
            <a:ext cx="4618533" cy="1253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Конструкция малогабаритного станка с ЧПУ: кинематика, система управления на открытой архитектуре, оснащение и методика безопасной эксплуатации.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055905" y="1694498"/>
            <a:ext cx="6393775" cy="7015163"/>
          </a:xfrm>
          <a:prstGeom prst="roundRect">
            <a:avLst>
              <a:gd name="adj" fmla="val 894"/>
            </a:avLst>
          </a:prstGeom>
          <a:solidFill>
            <a:srgbClr val="0E3A4C"/>
          </a:solidFill>
          <a:ln/>
        </p:spPr>
      </p:sp>
      <p:sp>
        <p:nvSpPr>
          <p:cNvPr id="13" name="Text 11"/>
          <p:cNvSpPr/>
          <p:nvPr/>
        </p:nvSpPr>
        <p:spPr>
          <a:xfrm>
            <a:off x="11265455" y="1904048"/>
            <a:ext cx="657214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НАУЧНАЯ НОВИЗНА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265455" y="2197417"/>
            <a:ext cx="615391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Совокупность технических решений как единое конструкторско-технологическое решение: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65455" y="2845118"/>
            <a:ext cx="1396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24167" y="2845118"/>
            <a:ext cx="425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пониженные скоростные и силовые параметры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265455" y="3167063"/>
            <a:ext cx="1396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24166" y="3167062"/>
            <a:ext cx="4254063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низковольтное </a:t>
            </a:r>
            <a:r>
              <a:rPr lang="en-US" sz="15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исполнение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7 - 12 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65455" y="3489008"/>
            <a:ext cx="1396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24167" y="3489008"/>
            <a:ext cx="3088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полимерная несущая конструкция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65455" y="3810953"/>
            <a:ext cx="1396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24167" y="3810953"/>
            <a:ext cx="3136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контроллер ESP32 с Wi-Fi-загрузкой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265455" y="4132897"/>
            <a:ext cx="1396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24167" y="4132897"/>
            <a:ext cx="30948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открытая архитектура управления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8200" y="8881110"/>
            <a:ext cx="16611600" cy="891540"/>
          </a:xfrm>
          <a:prstGeom prst="roundRect">
            <a:avLst>
              <a:gd name="adj" fmla="val 6410"/>
            </a:avLst>
          </a:prstGeom>
          <a:solidFill>
            <a:srgbClr val="D5E3E8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227820"/>
            <a:ext cx="308326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ЗНАЧИМОСТЬ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022169" y="9033510"/>
            <a:ext cx="13614623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допускает полное самостоятельное воспроизведение: открытые STL-файлы и управляющая программа позволяют любому учреждению с бытовым 3D-принтером изготовить, собрать и эксплуатировать станок.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Рисунок 126" descr="Учебный настольный токарный станок с ЧПУ">
            <a:extLst>
              <a:ext uri="{FF2B5EF4-FFF2-40B4-BE49-F238E27FC236}">
                <a16:creationId xmlns:a16="http://schemas.microsoft.com/office/drawing/2014/main" id="{0CD2E9FF-0874-BA37-56FE-269E021777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7" t="14433" r="11882" b="20278"/>
          <a:stretch/>
        </p:blipFill>
        <p:spPr bwMode="auto">
          <a:xfrm>
            <a:off x="7237445" y="2712364"/>
            <a:ext cx="2515136" cy="142575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618028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АНАЛОГОВ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6180284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Сравнительный анализ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45820" y="2265200"/>
            <a:ext cx="3829883" cy="3143699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10" name="Text 7"/>
          <p:cNvSpPr/>
          <p:nvPr/>
        </p:nvSpPr>
        <p:spPr>
          <a:xfrm>
            <a:off x="5457944" y="4974940"/>
            <a:ext cx="98881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Школьные ТВ</a:t>
            </a:r>
            <a:endParaRPr lang="en-US" sz="1125" dirty="0"/>
          </a:p>
        </p:txBody>
      </p:sp>
      <p:sp>
        <p:nvSpPr>
          <p:cNvPr id="13" name="Text 9"/>
          <p:cNvSpPr/>
          <p:nvPr/>
        </p:nvSpPr>
        <p:spPr>
          <a:xfrm>
            <a:off x="7896583" y="4974940"/>
            <a:ext cx="121812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Настольный ЧПУ</a:t>
            </a:r>
            <a:endParaRPr lang="en-US" sz="1125" dirty="0"/>
          </a:p>
        </p:txBody>
      </p:sp>
      <p:sp>
        <p:nvSpPr>
          <p:cNvPr id="16" name="Text 11"/>
          <p:cNvSpPr/>
          <p:nvPr/>
        </p:nvSpPr>
        <p:spPr>
          <a:xfrm>
            <a:off x="10484644" y="4974940"/>
            <a:ext cx="114847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Printed Lathe</a:t>
            </a:r>
            <a:endParaRPr lang="en-US" sz="1125" dirty="0"/>
          </a:p>
        </p:txBody>
      </p:sp>
      <p:sp>
        <p:nvSpPr>
          <p:cNvPr id="19" name="Text 13"/>
          <p:cNvSpPr/>
          <p:nvPr/>
        </p:nvSpPr>
        <p:spPr>
          <a:xfrm>
            <a:off x="13048655" y="4974940"/>
            <a:ext cx="11270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Станок К. Борге</a:t>
            </a:r>
            <a:endParaRPr lang="en-US" sz="1125" dirty="0"/>
          </a:p>
        </p:txBody>
      </p:sp>
      <p:sp>
        <p:nvSpPr>
          <p:cNvPr id="23" name="Text 17"/>
          <p:cNvSpPr/>
          <p:nvPr/>
        </p:nvSpPr>
        <p:spPr>
          <a:xfrm>
            <a:off x="15784711" y="4974940"/>
            <a:ext cx="76164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GRBL Mini</a:t>
            </a:r>
            <a:endParaRPr lang="en-US" sz="1125" dirty="0"/>
          </a:p>
        </p:txBody>
      </p:sp>
      <p:sp>
        <p:nvSpPr>
          <p:cNvPr id="24" name="Shape 18"/>
          <p:cNvSpPr/>
          <p:nvPr/>
        </p:nvSpPr>
        <p:spPr>
          <a:xfrm>
            <a:off x="845820" y="5422936"/>
            <a:ext cx="3829883" cy="346669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26" name="Text 20"/>
          <p:cNvSpPr/>
          <p:nvPr/>
        </p:nvSpPr>
        <p:spPr>
          <a:xfrm>
            <a:off x="979170" y="5447678"/>
            <a:ext cx="3678080" cy="360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Наличие ЧПУ</a:t>
            </a:r>
            <a:endParaRPr lang="en-US" sz="1275" dirty="0"/>
          </a:p>
        </p:txBody>
      </p:sp>
      <p:sp>
        <p:nvSpPr>
          <p:cNvPr id="27" name="Shape 21"/>
          <p:cNvSpPr/>
          <p:nvPr/>
        </p:nvSpPr>
        <p:spPr>
          <a:xfrm>
            <a:off x="4675704" y="5422936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28" name="Text 22"/>
          <p:cNvSpPr/>
          <p:nvPr/>
        </p:nvSpPr>
        <p:spPr>
          <a:xfrm>
            <a:off x="4637404" y="5444338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75" dirty="0"/>
          </a:p>
        </p:txBody>
      </p:sp>
      <p:sp>
        <p:nvSpPr>
          <p:cNvPr id="29" name="Shape 23"/>
          <p:cNvSpPr/>
          <p:nvPr/>
        </p:nvSpPr>
        <p:spPr>
          <a:xfrm>
            <a:off x="7228999" y="5422936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30" name="Text 24"/>
          <p:cNvSpPr/>
          <p:nvPr/>
        </p:nvSpPr>
        <p:spPr>
          <a:xfrm>
            <a:off x="7190699" y="5444338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75" dirty="0"/>
          </a:p>
        </p:txBody>
      </p:sp>
      <p:sp>
        <p:nvSpPr>
          <p:cNvPr id="31" name="Shape 25"/>
          <p:cNvSpPr/>
          <p:nvPr/>
        </p:nvSpPr>
        <p:spPr>
          <a:xfrm>
            <a:off x="9782295" y="5422936"/>
            <a:ext cx="2553295" cy="346669"/>
          </a:xfrm>
          <a:prstGeom prst="rect">
            <a:avLst/>
          </a:prstGeom>
          <a:solidFill>
            <a:srgbClr val="FFF5DC"/>
          </a:solidFill>
          <a:ln/>
        </p:spPr>
      </p:sp>
      <p:sp>
        <p:nvSpPr>
          <p:cNvPr id="32" name="Text 26"/>
          <p:cNvSpPr/>
          <p:nvPr/>
        </p:nvSpPr>
        <p:spPr>
          <a:xfrm>
            <a:off x="9743995" y="5444338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8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Дораб.</a:t>
            </a:r>
            <a:endParaRPr lang="en-US" sz="1275" dirty="0"/>
          </a:p>
        </p:txBody>
      </p:sp>
      <p:sp>
        <p:nvSpPr>
          <p:cNvPr id="33" name="Shape 27"/>
          <p:cNvSpPr/>
          <p:nvPr/>
        </p:nvSpPr>
        <p:spPr>
          <a:xfrm>
            <a:off x="12335590" y="5422936"/>
            <a:ext cx="2553295" cy="346669"/>
          </a:xfrm>
          <a:prstGeom prst="rect">
            <a:avLst/>
          </a:prstGeom>
          <a:solidFill>
            <a:srgbClr val="FFF5DC"/>
          </a:solidFill>
          <a:ln/>
        </p:spPr>
      </p:sp>
      <p:sp>
        <p:nvSpPr>
          <p:cNvPr id="34" name="Text 28"/>
          <p:cNvSpPr/>
          <p:nvPr/>
        </p:nvSpPr>
        <p:spPr>
          <a:xfrm>
            <a:off x="12297291" y="5444338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8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Дораб.</a:t>
            </a:r>
            <a:endParaRPr lang="en-US" sz="1275" dirty="0"/>
          </a:p>
        </p:txBody>
      </p:sp>
      <p:sp>
        <p:nvSpPr>
          <p:cNvPr id="35" name="Shape 29"/>
          <p:cNvSpPr/>
          <p:nvPr/>
        </p:nvSpPr>
        <p:spPr>
          <a:xfrm>
            <a:off x="14888885" y="5422936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36" name="Text 30"/>
          <p:cNvSpPr/>
          <p:nvPr/>
        </p:nvSpPr>
        <p:spPr>
          <a:xfrm>
            <a:off x="14835279" y="5440154"/>
            <a:ext cx="2629894" cy="327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75" dirty="0"/>
          </a:p>
        </p:txBody>
      </p:sp>
      <p:sp>
        <p:nvSpPr>
          <p:cNvPr id="37" name="Shape 31"/>
          <p:cNvSpPr/>
          <p:nvPr/>
        </p:nvSpPr>
        <p:spPr>
          <a:xfrm>
            <a:off x="845820" y="5787148"/>
            <a:ext cx="3829883" cy="346669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8" name="Text 32"/>
          <p:cNvSpPr/>
          <p:nvPr/>
        </p:nvSpPr>
        <p:spPr>
          <a:xfrm>
            <a:off x="979170" y="5798390"/>
            <a:ext cx="3678080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Открытая архитектура</a:t>
            </a:r>
            <a:endParaRPr lang="en-US" sz="1275" dirty="0"/>
          </a:p>
        </p:txBody>
      </p:sp>
      <p:sp>
        <p:nvSpPr>
          <p:cNvPr id="39" name="Shape 33"/>
          <p:cNvSpPr/>
          <p:nvPr/>
        </p:nvSpPr>
        <p:spPr>
          <a:xfrm>
            <a:off x="4675704" y="5787148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40" name="Text 34"/>
          <p:cNvSpPr/>
          <p:nvPr/>
        </p:nvSpPr>
        <p:spPr>
          <a:xfrm>
            <a:off x="4637404" y="5798390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75" dirty="0"/>
          </a:p>
        </p:txBody>
      </p:sp>
      <p:sp>
        <p:nvSpPr>
          <p:cNvPr id="41" name="Shape 35"/>
          <p:cNvSpPr/>
          <p:nvPr/>
        </p:nvSpPr>
        <p:spPr>
          <a:xfrm>
            <a:off x="7228999" y="5787148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42" name="Text 36"/>
          <p:cNvSpPr/>
          <p:nvPr/>
        </p:nvSpPr>
        <p:spPr>
          <a:xfrm>
            <a:off x="7190699" y="5798390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75" dirty="0"/>
          </a:p>
        </p:txBody>
      </p:sp>
      <p:sp>
        <p:nvSpPr>
          <p:cNvPr id="43" name="Shape 37"/>
          <p:cNvSpPr/>
          <p:nvPr/>
        </p:nvSpPr>
        <p:spPr>
          <a:xfrm>
            <a:off x="9782295" y="5787148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44" name="Text 38"/>
          <p:cNvSpPr/>
          <p:nvPr/>
        </p:nvSpPr>
        <p:spPr>
          <a:xfrm>
            <a:off x="9743995" y="5798390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75" dirty="0"/>
          </a:p>
        </p:txBody>
      </p:sp>
      <p:sp>
        <p:nvSpPr>
          <p:cNvPr id="45" name="Shape 39"/>
          <p:cNvSpPr/>
          <p:nvPr/>
        </p:nvSpPr>
        <p:spPr>
          <a:xfrm>
            <a:off x="12335590" y="5787148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46" name="Text 40"/>
          <p:cNvSpPr/>
          <p:nvPr/>
        </p:nvSpPr>
        <p:spPr>
          <a:xfrm>
            <a:off x="12297291" y="5798390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75" dirty="0"/>
          </a:p>
        </p:txBody>
      </p:sp>
      <p:sp>
        <p:nvSpPr>
          <p:cNvPr id="47" name="Shape 41"/>
          <p:cNvSpPr/>
          <p:nvPr/>
        </p:nvSpPr>
        <p:spPr>
          <a:xfrm>
            <a:off x="14888885" y="5787148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48" name="Text 42"/>
          <p:cNvSpPr/>
          <p:nvPr/>
        </p:nvSpPr>
        <p:spPr>
          <a:xfrm>
            <a:off x="14850586" y="5798390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75" dirty="0"/>
          </a:p>
        </p:txBody>
      </p:sp>
      <p:sp>
        <p:nvSpPr>
          <p:cNvPr id="49" name="Shape 43"/>
          <p:cNvSpPr/>
          <p:nvPr/>
        </p:nvSpPr>
        <p:spPr>
          <a:xfrm>
            <a:off x="845820" y="6151360"/>
            <a:ext cx="3829883" cy="346669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50" name="Text 44"/>
          <p:cNvSpPr/>
          <p:nvPr/>
        </p:nvSpPr>
        <p:spPr>
          <a:xfrm>
            <a:off x="979170" y="6194028"/>
            <a:ext cx="3678080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 конструкции</a:t>
            </a:r>
            <a:endParaRPr lang="en-US" sz="1275" dirty="0"/>
          </a:p>
        </p:txBody>
      </p:sp>
      <p:sp>
        <p:nvSpPr>
          <p:cNvPr id="51" name="Shape 45"/>
          <p:cNvSpPr/>
          <p:nvPr/>
        </p:nvSpPr>
        <p:spPr>
          <a:xfrm>
            <a:off x="4675704" y="6151360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52" name="Text 46"/>
          <p:cNvSpPr/>
          <p:nvPr/>
        </p:nvSpPr>
        <p:spPr>
          <a:xfrm>
            <a:off x="4637404" y="6194028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Чугун, сталь</a:t>
            </a:r>
            <a:endParaRPr lang="en-US" sz="1200" dirty="0"/>
          </a:p>
        </p:txBody>
      </p:sp>
      <p:sp>
        <p:nvSpPr>
          <p:cNvPr id="53" name="Shape 47"/>
          <p:cNvSpPr/>
          <p:nvPr/>
        </p:nvSpPr>
        <p:spPr>
          <a:xfrm>
            <a:off x="7228999" y="6151360"/>
            <a:ext cx="2553295" cy="346669"/>
          </a:xfrm>
          <a:prstGeom prst="rect">
            <a:avLst/>
          </a:prstGeom>
          <a:solidFill>
            <a:srgbClr val="FFF5DC"/>
          </a:solidFill>
          <a:ln/>
        </p:spPr>
      </p:sp>
      <p:sp>
        <p:nvSpPr>
          <p:cNvPr id="54" name="Text 48"/>
          <p:cNvSpPr/>
          <p:nvPr/>
        </p:nvSpPr>
        <p:spPr>
          <a:xfrm>
            <a:off x="7190699" y="6194028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8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Сталь, пластик</a:t>
            </a:r>
            <a:endParaRPr lang="en-US" sz="1200" b="1" dirty="0">
              <a:solidFill>
                <a:srgbClr val="8B6000"/>
              </a:solidFill>
            </a:endParaRPr>
          </a:p>
        </p:txBody>
      </p:sp>
      <p:sp>
        <p:nvSpPr>
          <p:cNvPr id="55" name="Shape 49"/>
          <p:cNvSpPr/>
          <p:nvPr/>
        </p:nvSpPr>
        <p:spPr>
          <a:xfrm>
            <a:off x="9782295" y="6151360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56" name="Text 50"/>
          <p:cNvSpPr/>
          <p:nvPr/>
        </p:nvSpPr>
        <p:spPr>
          <a:xfrm>
            <a:off x="9743995" y="6194028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Полимер</a:t>
            </a:r>
            <a:endParaRPr lang="en-US" sz="1200" dirty="0"/>
          </a:p>
        </p:txBody>
      </p:sp>
      <p:sp>
        <p:nvSpPr>
          <p:cNvPr id="57" name="Shape 51"/>
          <p:cNvSpPr/>
          <p:nvPr/>
        </p:nvSpPr>
        <p:spPr>
          <a:xfrm>
            <a:off x="12335590" y="6151360"/>
            <a:ext cx="2553295" cy="346669"/>
          </a:xfrm>
          <a:prstGeom prst="rect">
            <a:avLst/>
          </a:prstGeom>
          <a:solidFill>
            <a:srgbClr val="FFF5DC"/>
          </a:solidFill>
          <a:ln/>
        </p:spPr>
      </p:sp>
      <p:sp>
        <p:nvSpPr>
          <p:cNvPr id="58" name="Text 52"/>
          <p:cNvSpPr/>
          <p:nvPr/>
        </p:nvSpPr>
        <p:spPr>
          <a:xfrm>
            <a:off x="12297291" y="6194028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8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Полимер + бетон</a:t>
            </a:r>
            <a:endParaRPr lang="en-US" sz="1125" dirty="0"/>
          </a:p>
        </p:txBody>
      </p:sp>
      <p:sp>
        <p:nvSpPr>
          <p:cNvPr id="59" name="Shape 53"/>
          <p:cNvSpPr/>
          <p:nvPr/>
        </p:nvSpPr>
        <p:spPr>
          <a:xfrm>
            <a:off x="14888885" y="6151360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60" name="Text 54"/>
          <p:cNvSpPr/>
          <p:nvPr/>
        </p:nvSpPr>
        <p:spPr>
          <a:xfrm>
            <a:off x="14850586" y="6194028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</a:t>
            </a:r>
            <a:endParaRPr lang="en-US" sz="1200" dirty="0"/>
          </a:p>
        </p:txBody>
      </p:sp>
      <p:sp>
        <p:nvSpPr>
          <p:cNvPr id="61" name="Shape 55"/>
          <p:cNvSpPr/>
          <p:nvPr/>
        </p:nvSpPr>
        <p:spPr>
          <a:xfrm>
            <a:off x="845820" y="6516839"/>
            <a:ext cx="3829883" cy="346669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62" name="Text 56"/>
          <p:cNvSpPr/>
          <p:nvPr/>
        </p:nvSpPr>
        <p:spPr>
          <a:xfrm>
            <a:off x="979170" y="6538241"/>
            <a:ext cx="3678080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Обрабатываемый материал</a:t>
            </a:r>
            <a:endParaRPr lang="en-US" sz="1275" dirty="0"/>
          </a:p>
        </p:txBody>
      </p:sp>
      <p:sp>
        <p:nvSpPr>
          <p:cNvPr id="63" name="Shape 57"/>
          <p:cNvSpPr/>
          <p:nvPr/>
        </p:nvSpPr>
        <p:spPr>
          <a:xfrm>
            <a:off x="4675704" y="6516839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64" name="Text 58"/>
          <p:cNvSpPr/>
          <p:nvPr/>
        </p:nvSpPr>
        <p:spPr>
          <a:xfrm>
            <a:off x="4637404" y="6538241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</a:t>
            </a:r>
            <a:endParaRPr lang="en-US" sz="1275" dirty="0"/>
          </a:p>
        </p:txBody>
      </p:sp>
      <p:sp>
        <p:nvSpPr>
          <p:cNvPr id="65" name="Shape 59"/>
          <p:cNvSpPr/>
          <p:nvPr/>
        </p:nvSpPr>
        <p:spPr>
          <a:xfrm>
            <a:off x="7228999" y="6516839"/>
            <a:ext cx="2553295" cy="346669"/>
          </a:xfrm>
          <a:prstGeom prst="rect">
            <a:avLst/>
          </a:prstGeom>
          <a:solidFill>
            <a:srgbClr val="FFF5DC"/>
          </a:solidFill>
          <a:ln/>
        </p:spPr>
      </p:sp>
      <p:sp>
        <p:nvSpPr>
          <p:cNvPr id="66" name="Text 60"/>
          <p:cNvSpPr/>
          <p:nvPr/>
        </p:nvSpPr>
        <p:spPr>
          <a:xfrm>
            <a:off x="7190699" y="6538241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8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Мягкий металл</a:t>
            </a:r>
            <a:endParaRPr lang="en-US" sz="1200" dirty="0"/>
          </a:p>
        </p:txBody>
      </p:sp>
      <p:sp>
        <p:nvSpPr>
          <p:cNvPr id="67" name="Shape 61"/>
          <p:cNvSpPr/>
          <p:nvPr/>
        </p:nvSpPr>
        <p:spPr>
          <a:xfrm>
            <a:off x="9782295" y="6516839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68" name="Text 62"/>
          <p:cNvSpPr/>
          <p:nvPr/>
        </p:nvSpPr>
        <p:spPr>
          <a:xfrm>
            <a:off x="9743995" y="6538241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Дерево, смола</a:t>
            </a:r>
            <a:endParaRPr lang="en-US" sz="1200" dirty="0"/>
          </a:p>
        </p:txBody>
      </p:sp>
      <p:sp>
        <p:nvSpPr>
          <p:cNvPr id="69" name="Shape 63"/>
          <p:cNvSpPr/>
          <p:nvPr/>
        </p:nvSpPr>
        <p:spPr>
          <a:xfrm>
            <a:off x="12335590" y="6516839"/>
            <a:ext cx="2553295" cy="346669"/>
          </a:xfrm>
          <a:prstGeom prst="rect">
            <a:avLst/>
          </a:prstGeom>
          <a:solidFill>
            <a:srgbClr val="FFF5DC"/>
          </a:solidFill>
          <a:ln/>
        </p:spPr>
      </p:sp>
      <p:sp>
        <p:nvSpPr>
          <p:cNvPr id="70" name="Text 64"/>
          <p:cNvSpPr/>
          <p:nvPr/>
        </p:nvSpPr>
        <p:spPr>
          <a:xfrm>
            <a:off x="12297291" y="6538241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8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Алюм., латунь</a:t>
            </a:r>
            <a:endParaRPr lang="en-US" sz="1125" dirty="0"/>
          </a:p>
        </p:txBody>
      </p:sp>
      <p:sp>
        <p:nvSpPr>
          <p:cNvPr id="71" name="Shape 65"/>
          <p:cNvSpPr/>
          <p:nvPr/>
        </p:nvSpPr>
        <p:spPr>
          <a:xfrm>
            <a:off x="14888885" y="6516839"/>
            <a:ext cx="2553295" cy="346669"/>
          </a:xfrm>
          <a:prstGeom prst="rect">
            <a:avLst/>
          </a:prstGeom>
          <a:solidFill>
            <a:srgbClr val="FFF5DC"/>
          </a:solidFill>
          <a:ln/>
        </p:spPr>
      </p:sp>
      <p:sp>
        <p:nvSpPr>
          <p:cNvPr id="72" name="Text 66"/>
          <p:cNvSpPr/>
          <p:nvPr/>
        </p:nvSpPr>
        <p:spPr>
          <a:xfrm>
            <a:off x="14850586" y="6538241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8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Латунь, алюм.</a:t>
            </a:r>
            <a:endParaRPr lang="en-US" sz="1125" dirty="0"/>
          </a:p>
        </p:txBody>
      </p:sp>
      <p:sp>
        <p:nvSpPr>
          <p:cNvPr id="73" name="Shape 67"/>
          <p:cNvSpPr/>
          <p:nvPr/>
        </p:nvSpPr>
        <p:spPr>
          <a:xfrm>
            <a:off x="845820" y="6879061"/>
            <a:ext cx="3829883" cy="346669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74" name="Text 68"/>
          <p:cNvSpPr/>
          <p:nvPr/>
        </p:nvSpPr>
        <p:spPr>
          <a:xfrm>
            <a:off x="979170" y="6900463"/>
            <a:ext cx="3678080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Питание</a:t>
            </a:r>
            <a:endParaRPr lang="en-US" sz="1275" dirty="0"/>
          </a:p>
        </p:txBody>
      </p:sp>
      <p:sp>
        <p:nvSpPr>
          <p:cNvPr id="75" name="Shape 69"/>
          <p:cNvSpPr/>
          <p:nvPr/>
        </p:nvSpPr>
        <p:spPr>
          <a:xfrm>
            <a:off x="4675704" y="6879061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76" name="Text 70"/>
          <p:cNvSpPr/>
          <p:nvPr/>
        </p:nvSpPr>
        <p:spPr>
          <a:xfrm>
            <a:off x="4637404" y="6900463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В</a:t>
            </a:r>
            <a:endParaRPr lang="en-US" sz="1275" dirty="0"/>
          </a:p>
        </p:txBody>
      </p:sp>
      <p:sp>
        <p:nvSpPr>
          <p:cNvPr id="77" name="Shape 71"/>
          <p:cNvSpPr/>
          <p:nvPr/>
        </p:nvSpPr>
        <p:spPr>
          <a:xfrm>
            <a:off x="7228999" y="6879061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78" name="Text 72"/>
          <p:cNvSpPr/>
          <p:nvPr/>
        </p:nvSpPr>
        <p:spPr>
          <a:xfrm>
            <a:off x="7190699" y="6900463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В</a:t>
            </a:r>
            <a:endParaRPr lang="en-US" sz="1275" dirty="0"/>
          </a:p>
        </p:txBody>
      </p:sp>
      <p:sp>
        <p:nvSpPr>
          <p:cNvPr id="79" name="Shape 73"/>
          <p:cNvSpPr/>
          <p:nvPr/>
        </p:nvSpPr>
        <p:spPr>
          <a:xfrm>
            <a:off x="9782295" y="6879061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80" name="Text 74"/>
          <p:cNvSpPr/>
          <p:nvPr/>
        </p:nvSpPr>
        <p:spPr>
          <a:xfrm>
            <a:off x="9743995" y="6900463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Низковольт.</a:t>
            </a:r>
            <a:endParaRPr lang="en-US" sz="1200" dirty="0"/>
          </a:p>
        </p:txBody>
      </p:sp>
      <p:sp>
        <p:nvSpPr>
          <p:cNvPr id="81" name="Shape 75"/>
          <p:cNvSpPr/>
          <p:nvPr/>
        </p:nvSpPr>
        <p:spPr>
          <a:xfrm>
            <a:off x="12335590" y="6879061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82" name="Text 76"/>
          <p:cNvSpPr/>
          <p:nvPr/>
        </p:nvSpPr>
        <p:spPr>
          <a:xfrm>
            <a:off x="12297291" y="6900463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В</a:t>
            </a:r>
            <a:endParaRPr lang="en-US" sz="1275" dirty="0"/>
          </a:p>
        </p:txBody>
      </p:sp>
      <p:sp>
        <p:nvSpPr>
          <p:cNvPr id="83" name="Shape 77"/>
          <p:cNvSpPr/>
          <p:nvPr/>
        </p:nvSpPr>
        <p:spPr>
          <a:xfrm>
            <a:off x="14888885" y="6879061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84" name="Text 78"/>
          <p:cNvSpPr/>
          <p:nvPr/>
        </p:nvSpPr>
        <p:spPr>
          <a:xfrm>
            <a:off x="14850586" y="6900463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В</a:t>
            </a:r>
            <a:endParaRPr lang="en-US" sz="1275" dirty="0"/>
          </a:p>
        </p:txBody>
      </p:sp>
      <p:sp>
        <p:nvSpPr>
          <p:cNvPr id="85" name="Shape 79"/>
          <p:cNvSpPr/>
          <p:nvPr/>
        </p:nvSpPr>
        <p:spPr>
          <a:xfrm>
            <a:off x="845820" y="7244304"/>
            <a:ext cx="3829883" cy="346669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86" name="Text 80"/>
          <p:cNvSpPr/>
          <p:nvPr/>
        </p:nvSpPr>
        <p:spPr>
          <a:xfrm>
            <a:off x="979170" y="7265706"/>
            <a:ext cx="3678080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Масса</a:t>
            </a:r>
            <a:endParaRPr lang="en-US" sz="1275" dirty="0"/>
          </a:p>
        </p:txBody>
      </p:sp>
      <p:sp>
        <p:nvSpPr>
          <p:cNvPr id="87" name="Shape 81"/>
          <p:cNvSpPr/>
          <p:nvPr/>
        </p:nvSpPr>
        <p:spPr>
          <a:xfrm>
            <a:off x="4675704" y="7244304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88" name="Text 82"/>
          <p:cNvSpPr/>
          <p:nvPr/>
        </p:nvSpPr>
        <p:spPr>
          <a:xfrm>
            <a:off x="4637404" y="7265706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Десятки кг</a:t>
            </a:r>
            <a:endParaRPr lang="en-US" sz="1200" dirty="0"/>
          </a:p>
        </p:txBody>
      </p:sp>
      <p:sp>
        <p:nvSpPr>
          <p:cNvPr id="89" name="Shape 83"/>
          <p:cNvSpPr/>
          <p:nvPr/>
        </p:nvSpPr>
        <p:spPr>
          <a:xfrm>
            <a:off x="7228999" y="7244304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90" name="Text 84"/>
          <p:cNvSpPr/>
          <p:nvPr/>
        </p:nvSpPr>
        <p:spPr>
          <a:xfrm>
            <a:off x="7190699" y="7265706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кг</a:t>
            </a:r>
            <a:endParaRPr lang="en-US" sz="1275" dirty="0"/>
          </a:p>
        </p:txBody>
      </p:sp>
      <p:sp>
        <p:nvSpPr>
          <p:cNvPr id="91" name="Shape 85"/>
          <p:cNvSpPr/>
          <p:nvPr/>
        </p:nvSpPr>
        <p:spPr>
          <a:xfrm>
            <a:off x="9782295" y="7244304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92" name="Text 86"/>
          <p:cNvSpPr/>
          <p:nvPr/>
        </p:nvSpPr>
        <p:spPr>
          <a:xfrm>
            <a:off x="9743995" y="7265706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Малая</a:t>
            </a:r>
            <a:endParaRPr lang="en-US" sz="1275" dirty="0"/>
          </a:p>
        </p:txBody>
      </p:sp>
      <p:sp>
        <p:nvSpPr>
          <p:cNvPr id="93" name="Shape 87"/>
          <p:cNvSpPr/>
          <p:nvPr/>
        </p:nvSpPr>
        <p:spPr>
          <a:xfrm>
            <a:off x="12335590" y="7244304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94" name="Text 88"/>
          <p:cNvSpPr/>
          <p:nvPr/>
        </p:nvSpPr>
        <p:spPr>
          <a:xfrm>
            <a:off x="12297291" y="7265706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</a:t>
            </a:r>
            <a:endParaRPr lang="en-US" sz="1275" dirty="0"/>
          </a:p>
        </p:txBody>
      </p:sp>
      <p:sp>
        <p:nvSpPr>
          <p:cNvPr id="95" name="Shape 89"/>
          <p:cNvSpPr/>
          <p:nvPr/>
        </p:nvSpPr>
        <p:spPr>
          <a:xfrm>
            <a:off x="14888885" y="7244304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96" name="Text 90"/>
          <p:cNvSpPr/>
          <p:nvPr/>
        </p:nvSpPr>
        <p:spPr>
          <a:xfrm>
            <a:off x="14850586" y="7265706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Значит.</a:t>
            </a:r>
            <a:endParaRPr lang="en-US" sz="1275" dirty="0"/>
          </a:p>
        </p:txBody>
      </p:sp>
      <p:sp>
        <p:nvSpPr>
          <p:cNvPr id="97" name="Shape 91"/>
          <p:cNvSpPr/>
          <p:nvPr/>
        </p:nvSpPr>
        <p:spPr>
          <a:xfrm>
            <a:off x="845820" y="7603671"/>
            <a:ext cx="3829883" cy="346669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98" name="Text 92"/>
          <p:cNvSpPr/>
          <p:nvPr/>
        </p:nvSpPr>
        <p:spPr>
          <a:xfrm>
            <a:off x="979170" y="7625073"/>
            <a:ext cx="3678080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Самост. изготовление</a:t>
            </a:r>
            <a:endParaRPr lang="en-US" sz="1275" dirty="0"/>
          </a:p>
        </p:txBody>
      </p:sp>
      <p:sp>
        <p:nvSpPr>
          <p:cNvPr id="99" name="Shape 93"/>
          <p:cNvSpPr/>
          <p:nvPr/>
        </p:nvSpPr>
        <p:spPr>
          <a:xfrm>
            <a:off x="4675704" y="7603671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100" name="Text 94"/>
          <p:cNvSpPr/>
          <p:nvPr/>
        </p:nvSpPr>
        <p:spPr>
          <a:xfrm>
            <a:off x="4637404" y="7625073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75" dirty="0"/>
          </a:p>
        </p:txBody>
      </p:sp>
      <p:sp>
        <p:nvSpPr>
          <p:cNvPr id="101" name="Shape 95"/>
          <p:cNvSpPr/>
          <p:nvPr/>
        </p:nvSpPr>
        <p:spPr>
          <a:xfrm>
            <a:off x="7228999" y="7603671"/>
            <a:ext cx="2553295" cy="346669"/>
          </a:xfrm>
          <a:prstGeom prst="rect">
            <a:avLst/>
          </a:prstGeom>
          <a:solidFill>
            <a:srgbClr val="FBE9E8"/>
          </a:solidFill>
          <a:ln/>
        </p:spPr>
      </p:sp>
      <p:sp>
        <p:nvSpPr>
          <p:cNvPr id="102" name="Text 96"/>
          <p:cNvSpPr/>
          <p:nvPr/>
        </p:nvSpPr>
        <p:spPr>
          <a:xfrm>
            <a:off x="7190699" y="7625073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75" dirty="0"/>
          </a:p>
        </p:txBody>
      </p:sp>
      <p:sp>
        <p:nvSpPr>
          <p:cNvPr id="103" name="Shape 97"/>
          <p:cNvSpPr/>
          <p:nvPr/>
        </p:nvSpPr>
        <p:spPr>
          <a:xfrm>
            <a:off x="9782295" y="7603671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104" name="Text 98"/>
          <p:cNvSpPr/>
          <p:nvPr/>
        </p:nvSpPr>
        <p:spPr>
          <a:xfrm>
            <a:off x="9743995" y="7625073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75" dirty="0"/>
          </a:p>
        </p:txBody>
      </p:sp>
      <p:sp>
        <p:nvSpPr>
          <p:cNvPr id="105" name="Shape 99"/>
          <p:cNvSpPr/>
          <p:nvPr/>
        </p:nvSpPr>
        <p:spPr>
          <a:xfrm>
            <a:off x="12335590" y="7603671"/>
            <a:ext cx="2553295" cy="346669"/>
          </a:xfrm>
          <a:prstGeom prst="rect">
            <a:avLst/>
          </a:prstGeom>
          <a:solidFill>
            <a:srgbClr val="E4F2E6"/>
          </a:solidFill>
          <a:ln/>
        </p:spPr>
      </p:sp>
      <p:sp>
        <p:nvSpPr>
          <p:cNvPr id="106" name="Text 100"/>
          <p:cNvSpPr/>
          <p:nvPr/>
        </p:nvSpPr>
        <p:spPr>
          <a:xfrm>
            <a:off x="12297291" y="7625073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75" dirty="0"/>
          </a:p>
        </p:txBody>
      </p:sp>
      <p:sp>
        <p:nvSpPr>
          <p:cNvPr id="107" name="Shape 101"/>
          <p:cNvSpPr/>
          <p:nvPr/>
        </p:nvSpPr>
        <p:spPr>
          <a:xfrm>
            <a:off x="14888885" y="7603671"/>
            <a:ext cx="2553295" cy="346669"/>
          </a:xfrm>
          <a:prstGeom prst="rect">
            <a:avLst/>
          </a:prstGeom>
          <a:solidFill>
            <a:srgbClr val="FFF5DC"/>
          </a:solidFill>
          <a:ln/>
        </p:spPr>
      </p:sp>
      <p:sp>
        <p:nvSpPr>
          <p:cNvPr id="108" name="Text 102"/>
          <p:cNvSpPr/>
          <p:nvPr/>
        </p:nvSpPr>
        <p:spPr>
          <a:xfrm>
            <a:off x="14850586" y="7625073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Частично</a:t>
            </a:r>
            <a:endParaRPr lang="en-US" sz="1200" dirty="0"/>
          </a:p>
        </p:txBody>
      </p:sp>
      <p:sp>
        <p:nvSpPr>
          <p:cNvPr id="109" name="Shape 103"/>
          <p:cNvSpPr/>
          <p:nvPr/>
        </p:nvSpPr>
        <p:spPr>
          <a:xfrm>
            <a:off x="845820" y="7972915"/>
            <a:ext cx="3829883" cy="346669"/>
          </a:xfrm>
          <a:prstGeom prst="rect">
            <a:avLst/>
          </a:prstGeom>
          <a:solidFill>
            <a:srgbClr val="1B4D5F"/>
          </a:solidFill>
          <a:ln/>
        </p:spPr>
      </p:sp>
      <p:sp>
        <p:nvSpPr>
          <p:cNvPr id="110" name="Text 104"/>
          <p:cNvSpPr/>
          <p:nvPr/>
        </p:nvSpPr>
        <p:spPr>
          <a:xfrm>
            <a:off x="979170" y="7994317"/>
            <a:ext cx="3678080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Детская безопасность</a:t>
            </a:r>
            <a:endParaRPr lang="en-US" sz="1275" dirty="0"/>
          </a:p>
        </p:txBody>
      </p:sp>
      <p:sp>
        <p:nvSpPr>
          <p:cNvPr id="111" name="Shape 105"/>
          <p:cNvSpPr/>
          <p:nvPr/>
        </p:nvSpPr>
        <p:spPr>
          <a:xfrm>
            <a:off x="4675704" y="7972915"/>
            <a:ext cx="2553295" cy="346669"/>
          </a:xfrm>
          <a:prstGeom prst="rect">
            <a:avLst/>
          </a:prstGeom>
          <a:solidFill>
            <a:srgbClr val="F5D2CF"/>
          </a:solidFill>
          <a:ln/>
        </p:spPr>
      </p:sp>
      <p:sp>
        <p:nvSpPr>
          <p:cNvPr id="112" name="Text 106"/>
          <p:cNvSpPr/>
          <p:nvPr/>
        </p:nvSpPr>
        <p:spPr>
          <a:xfrm>
            <a:off x="4637404" y="7994317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75" dirty="0"/>
          </a:p>
        </p:txBody>
      </p:sp>
      <p:sp>
        <p:nvSpPr>
          <p:cNvPr id="113" name="Shape 107"/>
          <p:cNvSpPr/>
          <p:nvPr/>
        </p:nvSpPr>
        <p:spPr>
          <a:xfrm>
            <a:off x="7228999" y="7972915"/>
            <a:ext cx="2553295" cy="346669"/>
          </a:xfrm>
          <a:prstGeom prst="rect">
            <a:avLst/>
          </a:prstGeom>
          <a:solidFill>
            <a:srgbClr val="F5D2CF"/>
          </a:solidFill>
          <a:ln/>
        </p:spPr>
      </p:sp>
      <p:sp>
        <p:nvSpPr>
          <p:cNvPr id="114" name="Text 108"/>
          <p:cNvSpPr/>
          <p:nvPr/>
        </p:nvSpPr>
        <p:spPr>
          <a:xfrm>
            <a:off x="7190699" y="7994317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75" dirty="0"/>
          </a:p>
        </p:txBody>
      </p:sp>
      <p:sp>
        <p:nvSpPr>
          <p:cNvPr id="115" name="Shape 109"/>
          <p:cNvSpPr/>
          <p:nvPr/>
        </p:nvSpPr>
        <p:spPr>
          <a:xfrm>
            <a:off x="9782295" y="7972915"/>
            <a:ext cx="2553295" cy="346669"/>
          </a:xfrm>
          <a:prstGeom prst="rect">
            <a:avLst/>
          </a:prstGeom>
          <a:solidFill>
            <a:srgbClr val="F5D2CF"/>
          </a:solidFill>
          <a:ln/>
        </p:spPr>
      </p:sp>
      <p:sp>
        <p:nvSpPr>
          <p:cNvPr id="116" name="Text 110"/>
          <p:cNvSpPr/>
          <p:nvPr/>
        </p:nvSpPr>
        <p:spPr>
          <a:xfrm>
            <a:off x="9743995" y="7994317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75" dirty="0"/>
          </a:p>
        </p:txBody>
      </p:sp>
      <p:sp>
        <p:nvSpPr>
          <p:cNvPr id="117" name="Shape 111"/>
          <p:cNvSpPr/>
          <p:nvPr/>
        </p:nvSpPr>
        <p:spPr>
          <a:xfrm>
            <a:off x="12335590" y="7972915"/>
            <a:ext cx="2553295" cy="346669"/>
          </a:xfrm>
          <a:prstGeom prst="rect">
            <a:avLst/>
          </a:prstGeom>
          <a:solidFill>
            <a:srgbClr val="F5D2CF"/>
          </a:solidFill>
          <a:ln/>
        </p:spPr>
      </p:sp>
      <p:sp>
        <p:nvSpPr>
          <p:cNvPr id="118" name="Text 112"/>
          <p:cNvSpPr/>
          <p:nvPr/>
        </p:nvSpPr>
        <p:spPr>
          <a:xfrm>
            <a:off x="12297291" y="7994317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75" dirty="0"/>
          </a:p>
        </p:txBody>
      </p:sp>
      <p:sp>
        <p:nvSpPr>
          <p:cNvPr id="119" name="Shape 113"/>
          <p:cNvSpPr/>
          <p:nvPr/>
        </p:nvSpPr>
        <p:spPr>
          <a:xfrm>
            <a:off x="14888885" y="7972915"/>
            <a:ext cx="2553295" cy="346669"/>
          </a:xfrm>
          <a:prstGeom prst="rect">
            <a:avLst/>
          </a:prstGeom>
          <a:solidFill>
            <a:srgbClr val="F5D2CF"/>
          </a:solidFill>
          <a:ln/>
        </p:spPr>
      </p:sp>
      <p:sp>
        <p:nvSpPr>
          <p:cNvPr id="120" name="Text 114"/>
          <p:cNvSpPr/>
          <p:nvPr/>
        </p:nvSpPr>
        <p:spPr>
          <a:xfrm>
            <a:off x="14850586" y="7994317"/>
            <a:ext cx="2629894" cy="363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75" dirty="0"/>
          </a:p>
        </p:txBody>
      </p:sp>
      <p:sp>
        <p:nvSpPr>
          <p:cNvPr id="121" name="Shape 115"/>
          <p:cNvSpPr/>
          <p:nvPr/>
        </p:nvSpPr>
        <p:spPr>
          <a:xfrm>
            <a:off x="838200" y="8965882"/>
            <a:ext cx="16611600" cy="806768"/>
          </a:xfrm>
          <a:prstGeom prst="roundRect">
            <a:avLst>
              <a:gd name="adj" fmla="val 7084"/>
            </a:avLst>
          </a:prstGeom>
          <a:solidFill>
            <a:srgbClr val="0E3A4C"/>
          </a:solidFill>
          <a:ln/>
        </p:spPr>
      </p:sp>
      <p:sp>
        <p:nvSpPr>
          <p:cNvPr id="122" name="Text 116"/>
          <p:cNvSpPr/>
          <p:nvPr/>
        </p:nvSpPr>
        <p:spPr>
          <a:xfrm>
            <a:off x="1047750" y="9270206"/>
            <a:ext cx="191044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НЕЗАНЯТАЯ НИША</a:t>
            </a:r>
            <a:endParaRPr lang="en-US" sz="1350" dirty="0"/>
          </a:p>
        </p:txBody>
      </p:sp>
      <p:sp>
        <p:nvSpPr>
          <p:cNvPr id="123" name="Text 117"/>
          <p:cNvSpPr/>
          <p:nvPr/>
        </p:nvSpPr>
        <p:spPr>
          <a:xfrm>
            <a:off x="2955965" y="9099232"/>
            <a:ext cx="14712814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одно из устройств не сочетает малую массу, низковольтное питание, ориентацию на мягкие материалы, открытую архитектуру, печатное изготовление и средства защиты для ребёнка.</a:t>
            </a:r>
            <a:endParaRPr lang="en-US" sz="1575" dirty="0"/>
          </a:p>
        </p:txBody>
      </p:sp>
      <p:pic>
        <p:nvPicPr>
          <p:cNvPr id="124" name="Рисунок 123">
            <a:extLst>
              <a:ext uri="{FF2B5EF4-FFF2-40B4-BE49-F238E27FC236}">
                <a16:creationId xmlns:a16="http://schemas.microsoft.com/office/drawing/2014/main" id="{0EFC7175-4E9C-B416-96B8-DBBBED73CB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22" b="15737"/>
          <a:stretch/>
        </p:blipFill>
        <p:spPr>
          <a:xfrm>
            <a:off x="14885154" y="2265200"/>
            <a:ext cx="2553295" cy="2467773"/>
          </a:xfrm>
          <a:prstGeom prst="rect">
            <a:avLst/>
          </a:prstGeom>
        </p:spPr>
      </p:pic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2955EAD5-E16A-B6AA-B18E-E87A5249B2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5590" y="2765168"/>
            <a:ext cx="2553433" cy="1438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Рисунок 125">
            <a:extLst>
              <a:ext uri="{FF2B5EF4-FFF2-40B4-BE49-F238E27FC236}">
                <a16:creationId xmlns:a16="http://schemas.microsoft.com/office/drawing/2014/main" id="{DD8BD533-B4EB-3A7B-2558-7AA488800C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3996" y="2756770"/>
            <a:ext cx="2591594" cy="1457321"/>
          </a:xfrm>
          <a:prstGeom prst="rect">
            <a:avLst/>
          </a:prstGeom>
        </p:spPr>
      </p:pic>
      <p:pic>
        <p:nvPicPr>
          <p:cNvPr id="128" name="Рисунок 127" descr="ТВ-4 Общий вид токарно-винторезного станка">
            <a:extLst>
              <a:ext uri="{FF2B5EF4-FFF2-40B4-BE49-F238E27FC236}">
                <a16:creationId xmlns:a16="http://schemas.microsoft.com/office/drawing/2014/main" id="{D58A8E7A-98C6-559B-711A-23DEEABC2F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474" y="2471317"/>
            <a:ext cx="2545971" cy="191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910979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4 · КОНЦЕПЦИЯ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9109794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ключевых проектных решения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38200" y="1656398"/>
            <a:ext cx="1827276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Станок должен быть </a:t>
            </a:r>
            <a:r>
              <a:rPr lang="en-US" sz="19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безопасным </a:t>
            </a:r>
            <a:r>
              <a:rPr lang="en-US" sz="19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конструкции, </a:t>
            </a:r>
            <a:r>
              <a:rPr lang="en-US" sz="19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воспроизводимым </a:t>
            </a:r>
            <a:r>
              <a:rPr lang="en-US" sz="19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силами учреждения и </a:t>
            </a:r>
            <a:r>
              <a:rPr lang="en-US" sz="19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прозрачным </a:t>
            </a:r>
            <a:r>
              <a:rPr lang="en-US" sz="19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понимания.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838200" y="2162175"/>
            <a:ext cx="5410200" cy="7610475"/>
          </a:xfrm>
          <a:prstGeom prst="roundRect">
            <a:avLst>
              <a:gd name="adj" fmla="val 1056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4420" y="2398395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0E3A4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0620" y="2474595"/>
            <a:ext cx="323850" cy="323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84020" y="2400300"/>
            <a:ext cx="1564684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kern="0" spc="75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ОБРАБОТКИ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684020" y="2567940"/>
            <a:ext cx="15646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74420" y="3007995"/>
            <a:ext cx="54315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Парафиновые свечи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074420" y="3385185"/>
            <a:ext cx="4937760" cy="19050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14" name="Text 11"/>
          <p:cNvSpPr/>
          <p:nvPr/>
        </p:nvSpPr>
        <p:spPr>
          <a:xfrm>
            <a:off x="1074420" y="3537585"/>
            <a:ext cx="5431536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Малые усилия резания — единицы ньютонов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074420" y="3892868"/>
            <a:ext cx="5431536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Полимерная конструкция допустима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074420" y="4248150"/>
            <a:ext cx="5431536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Нетоксичность, доступность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074420" y="4603433"/>
            <a:ext cx="5431536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Ограничение оборотов шпинделя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6438900" y="2162175"/>
            <a:ext cx="5410200" cy="7610475"/>
          </a:xfrm>
          <a:prstGeom prst="roundRect">
            <a:avLst>
              <a:gd name="adj" fmla="val 1056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0" y="2398395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0E3A4C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51320" y="2474595"/>
            <a:ext cx="323850" cy="3238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84720" y="2400300"/>
            <a:ext cx="188673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kern="0" spc="75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ЭЛЕКТРОБЕЗОПАСНОСТЬ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284720" y="2567940"/>
            <a:ext cx="18867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6675120" y="3007995"/>
            <a:ext cx="54315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 err="1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Питание</a:t>
            </a:r>
            <a:r>
              <a:rPr lang="en-US" sz="19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9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7 - </a:t>
            </a:r>
            <a:r>
              <a:rPr lang="en-US" sz="19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В DC</a:t>
            </a:r>
            <a:endParaRPr lang="en-US" sz="1950" dirty="0"/>
          </a:p>
        </p:txBody>
      </p:sp>
      <p:sp>
        <p:nvSpPr>
          <p:cNvPr id="24" name="Shape 20"/>
          <p:cNvSpPr/>
          <p:nvPr/>
        </p:nvSpPr>
        <p:spPr>
          <a:xfrm>
            <a:off x="6675120" y="3385185"/>
            <a:ext cx="4937760" cy="19050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3537585"/>
            <a:ext cx="5431536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Аккумулятор — </a:t>
            </a:r>
            <a:r>
              <a:rPr lang="en-US" sz="1575" dirty="0" err="1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220 В в рабочей зоне</a:t>
            </a:r>
            <a:endParaRPr lang="en-US" sz="1575" dirty="0"/>
          </a:p>
        </p:txBody>
      </p:sp>
      <p:sp>
        <p:nvSpPr>
          <p:cNvPr id="26" name="Text 22"/>
          <p:cNvSpPr/>
          <p:nvPr/>
        </p:nvSpPr>
        <p:spPr>
          <a:xfrm>
            <a:off x="6675120" y="3892868"/>
            <a:ext cx="5431536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Соответствие ГОСТ Р 2026</a:t>
            </a:r>
            <a:endParaRPr lang="en-US" sz="1575" dirty="0"/>
          </a:p>
        </p:txBody>
      </p:sp>
      <p:sp>
        <p:nvSpPr>
          <p:cNvPr id="27" name="Text 23"/>
          <p:cNvSpPr/>
          <p:nvPr/>
        </p:nvSpPr>
        <p:spPr>
          <a:xfrm>
            <a:off x="6675120" y="4248150"/>
            <a:ext cx="5431536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ru-RU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7 - </a:t>
            </a: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В — норма для начальной школы</a:t>
            </a:r>
            <a:endParaRPr lang="en-US" sz="1575" dirty="0"/>
          </a:p>
        </p:txBody>
      </p:sp>
      <p:sp>
        <p:nvSpPr>
          <p:cNvPr id="28" name="Text 24"/>
          <p:cNvSpPr/>
          <p:nvPr/>
        </p:nvSpPr>
        <p:spPr>
          <a:xfrm>
            <a:off x="6675120" y="4603433"/>
            <a:ext cx="5431536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Электробезопасность для ребёнка</a:t>
            </a:r>
            <a:endParaRPr lang="en-US" sz="1575" dirty="0"/>
          </a:p>
        </p:txBody>
      </p:sp>
      <p:sp>
        <p:nvSpPr>
          <p:cNvPr id="29" name="Shape 25"/>
          <p:cNvSpPr/>
          <p:nvPr/>
        </p:nvSpPr>
        <p:spPr>
          <a:xfrm>
            <a:off x="12039600" y="2162175"/>
            <a:ext cx="5410200" cy="7610475"/>
          </a:xfrm>
          <a:prstGeom prst="roundRect">
            <a:avLst>
              <a:gd name="adj" fmla="val 1056"/>
            </a:avLst>
          </a:prstGeom>
          <a:solidFill>
            <a:srgbClr val="0E3A4C"/>
          </a:solidFill>
          <a:ln/>
        </p:spPr>
      </p:sp>
      <p:sp>
        <p:nvSpPr>
          <p:cNvPr id="30" name="Shape 26"/>
          <p:cNvSpPr/>
          <p:nvPr/>
        </p:nvSpPr>
        <p:spPr>
          <a:xfrm>
            <a:off x="12268200" y="2390775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344400" y="2466975"/>
            <a:ext cx="323850" cy="32385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2877800" y="2392680"/>
            <a:ext cx="158053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kern="0" spc="75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ОТКРЫТАЯ СИСТЕМА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12877800" y="2560320"/>
            <a:ext cx="1580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34" name="Text 29"/>
          <p:cNvSpPr/>
          <p:nvPr/>
        </p:nvSpPr>
        <p:spPr>
          <a:xfrm>
            <a:off x="12268200" y="3000375"/>
            <a:ext cx="5448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Печать из PETG</a:t>
            </a:r>
            <a:endParaRPr lang="en-US" sz="1950" dirty="0"/>
          </a:p>
        </p:txBody>
      </p:sp>
      <p:sp>
        <p:nvSpPr>
          <p:cNvPr id="35" name="Shape 30"/>
          <p:cNvSpPr/>
          <p:nvPr/>
        </p:nvSpPr>
        <p:spPr>
          <a:xfrm>
            <a:off x="12268200" y="3377565"/>
            <a:ext cx="49530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12268200" y="3529965"/>
            <a:ext cx="5448300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ru-RU" sz="1575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 часть </a:t>
            </a:r>
            <a:r>
              <a:rPr lang="en-US" sz="1575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конструкци</a:t>
            </a:r>
            <a:r>
              <a:rPr lang="ru-RU" sz="1575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- печатная</a:t>
            </a:r>
            <a:endParaRPr lang="en-US" sz="1575" dirty="0"/>
          </a:p>
        </p:txBody>
      </p:sp>
      <p:sp>
        <p:nvSpPr>
          <p:cNvPr id="37" name="Text 32"/>
          <p:cNvSpPr/>
          <p:nvPr/>
        </p:nvSpPr>
        <p:spPr>
          <a:xfrm>
            <a:off x="12268200" y="3885247"/>
            <a:ext cx="5448300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Воспроизводимость без промышленности</a:t>
            </a:r>
            <a:endParaRPr lang="en-US" sz="1575" dirty="0"/>
          </a:p>
        </p:txBody>
      </p:sp>
      <p:sp>
        <p:nvSpPr>
          <p:cNvPr id="38" name="Text 33"/>
          <p:cNvSpPr/>
          <p:nvPr/>
        </p:nvSpPr>
        <p:spPr>
          <a:xfrm>
            <a:off x="12268200" y="4240530"/>
            <a:ext cx="5448300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Открытые STL-</a:t>
            </a:r>
            <a:r>
              <a:rPr lang="en-US" sz="1575" dirty="0" err="1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r>
              <a:rPr lang="ru-RU" sz="1575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ПО</a:t>
            </a:r>
            <a:endParaRPr lang="en-US" sz="1575" dirty="0"/>
          </a:p>
        </p:txBody>
      </p:sp>
      <p:sp>
        <p:nvSpPr>
          <p:cNvPr id="39" name="Text 34"/>
          <p:cNvSpPr/>
          <p:nvPr/>
        </p:nvSpPr>
        <p:spPr>
          <a:xfrm>
            <a:off x="12268200" y="4595813"/>
            <a:ext cx="5448300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Простая замена и ремонт узлов</a:t>
            </a:r>
            <a:endParaRPr lang="en-US" sz="15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975874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4.2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9758744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Кинематическая схема и компоновка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38200" y="1675448"/>
            <a:ext cx="9818370" cy="7266623"/>
          </a:xfrm>
          <a:prstGeom prst="roundRect">
            <a:avLst>
              <a:gd name="adj" fmla="val 1049"/>
            </a:avLst>
          </a:prstGeom>
          <a:solidFill>
            <a:srgbClr val="C9D0DA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8963" b="-8963"/>
          <a:stretch/>
        </p:blipFill>
        <p:spPr>
          <a:xfrm>
            <a:off x="845820" y="1683067"/>
            <a:ext cx="9803131" cy="725138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79170" y="1797367"/>
            <a:ext cx="3544491" cy="320040"/>
          </a:xfrm>
          <a:prstGeom prst="roundRect">
            <a:avLst>
              <a:gd name="adj" fmla="val 11905"/>
            </a:avLst>
          </a:prstGeom>
          <a:solidFill>
            <a:srgbClr val="0E3A4C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79170" y="1797367"/>
            <a:ext cx="354449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CAD-модель · горизонтальная компоновка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38200" y="9056370"/>
            <a:ext cx="3196590" cy="716280"/>
          </a:xfrm>
          <a:prstGeom prst="roundRect">
            <a:avLst>
              <a:gd name="adj" fmla="val 6649"/>
            </a:avLst>
          </a:prstGeom>
          <a:solidFill>
            <a:srgbClr val="0E3A4C"/>
          </a:solidFill>
          <a:ln/>
        </p:spPr>
      </p:sp>
      <p:sp>
        <p:nvSpPr>
          <p:cNvPr id="11" name="Text 8"/>
          <p:cNvSpPr/>
          <p:nvPr/>
        </p:nvSpPr>
        <p:spPr>
          <a:xfrm>
            <a:off x="990600" y="9170670"/>
            <a:ext cx="318096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ru-RU" sz="19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r>
              <a:rPr lang="en-US" sz="19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мм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90600" y="9452610"/>
            <a:ext cx="31809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X — продольная подача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149090" y="9056370"/>
            <a:ext cx="3196590" cy="716280"/>
          </a:xfrm>
          <a:prstGeom prst="roundRect">
            <a:avLst>
              <a:gd name="adj" fmla="val 6649"/>
            </a:avLst>
          </a:prstGeom>
          <a:solidFill>
            <a:srgbClr val="0E3A4C"/>
          </a:solidFill>
          <a:ln/>
        </p:spPr>
      </p:sp>
      <p:sp>
        <p:nvSpPr>
          <p:cNvPr id="14" name="Text 11"/>
          <p:cNvSpPr/>
          <p:nvPr/>
        </p:nvSpPr>
        <p:spPr>
          <a:xfrm>
            <a:off x="4301490" y="9170670"/>
            <a:ext cx="318096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ru-RU" sz="19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r>
              <a:rPr lang="en-US" sz="19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мм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4301490" y="9452610"/>
            <a:ext cx="31809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Y — ход резцедержателя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459980" y="9056370"/>
            <a:ext cx="3196590" cy="716280"/>
          </a:xfrm>
          <a:prstGeom prst="roundRect">
            <a:avLst>
              <a:gd name="adj" fmla="val 6649"/>
            </a:avLst>
          </a:prstGeom>
          <a:solidFill>
            <a:srgbClr val="0E3A4C"/>
          </a:solidFill>
          <a:ln/>
        </p:spPr>
      </p:sp>
      <p:sp>
        <p:nvSpPr>
          <p:cNvPr id="17" name="Text 14"/>
          <p:cNvSpPr/>
          <p:nvPr/>
        </p:nvSpPr>
        <p:spPr>
          <a:xfrm>
            <a:off x="7612380" y="9170670"/>
            <a:ext cx="318096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915 об/мин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7612380" y="9452610"/>
            <a:ext cx="31809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DC-двигатель шпинделя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0904220" y="1675448"/>
            <a:ext cx="6545580" cy="1100138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10904220" y="2767965"/>
            <a:ext cx="654558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1" name="Shape 18"/>
          <p:cNvSpPr/>
          <p:nvPr/>
        </p:nvSpPr>
        <p:spPr>
          <a:xfrm>
            <a:off x="10904220" y="1675448"/>
            <a:ext cx="654558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2" name="Shape 19"/>
          <p:cNvSpPr/>
          <p:nvPr/>
        </p:nvSpPr>
        <p:spPr>
          <a:xfrm>
            <a:off x="10904220" y="1675448"/>
            <a:ext cx="38100" cy="1100138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23" name="Shape 20"/>
          <p:cNvSpPr/>
          <p:nvPr/>
        </p:nvSpPr>
        <p:spPr>
          <a:xfrm>
            <a:off x="17442181" y="1675448"/>
            <a:ext cx="9525" cy="1100138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4" name="Text 21"/>
          <p:cNvSpPr/>
          <p:nvPr/>
        </p:nvSpPr>
        <p:spPr>
          <a:xfrm>
            <a:off x="11132820" y="1835467"/>
            <a:ext cx="67307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движение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1132820" y="2126933"/>
            <a:ext cx="6302426" cy="526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DC-двигатель 12 В (915 об/мин) → ременная передача GT2 → шпиндель. Плавная регулировка ШИМ.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10904220" y="2908935"/>
            <a:ext cx="6545580" cy="1100138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10904220" y="4001452"/>
            <a:ext cx="654558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8" name="Shape 25"/>
          <p:cNvSpPr/>
          <p:nvPr/>
        </p:nvSpPr>
        <p:spPr>
          <a:xfrm>
            <a:off x="10904220" y="2908935"/>
            <a:ext cx="654558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9" name="Shape 26"/>
          <p:cNvSpPr/>
          <p:nvPr/>
        </p:nvSpPr>
        <p:spPr>
          <a:xfrm>
            <a:off x="10904220" y="2908935"/>
            <a:ext cx="38100" cy="1100138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30" name="Shape 27"/>
          <p:cNvSpPr/>
          <p:nvPr/>
        </p:nvSpPr>
        <p:spPr>
          <a:xfrm>
            <a:off x="17442181" y="2908935"/>
            <a:ext cx="9525" cy="1100138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31" name="Text 28"/>
          <p:cNvSpPr/>
          <p:nvPr/>
        </p:nvSpPr>
        <p:spPr>
          <a:xfrm>
            <a:off x="11132820" y="3068955"/>
            <a:ext cx="67307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Подача по X и Y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1132820" y="3360420"/>
            <a:ext cx="6302426" cy="526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шаговых двигателя через драйвер TB6612FNG под управлением ESP32. Печатные линейные подшипники.</a:t>
            </a:r>
            <a:endParaRPr lang="en-US" sz="1425" dirty="0"/>
          </a:p>
        </p:txBody>
      </p:sp>
      <p:sp>
        <p:nvSpPr>
          <p:cNvPr id="33" name="Shape 30"/>
          <p:cNvSpPr/>
          <p:nvPr/>
        </p:nvSpPr>
        <p:spPr>
          <a:xfrm>
            <a:off x="10904220" y="4142422"/>
            <a:ext cx="6545580" cy="1100138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10904220" y="5234940"/>
            <a:ext cx="654558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35" name="Shape 32"/>
          <p:cNvSpPr/>
          <p:nvPr/>
        </p:nvSpPr>
        <p:spPr>
          <a:xfrm>
            <a:off x="10904220" y="4142422"/>
            <a:ext cx="654558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36" name="Shape 33"/>
          <p:cNvSpPr/>
          <p:nvPr/>
        </p:nvSpPr>
        <p:spPr>
          <a:xfrm>
            <a:off x="10904220" y="4142422"/>
            <a:ext cx="38100" cy="1100138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37" name="Shape 34"/>
          <p:cNvSpPr/>
          <p:nvPr/>
        </p:nvSpPr>
        <p:spPr>
          <a:xfrm>
            <a:off x="17442181" y="4142422"/>
            <a:ext cx="9525" cy="1100138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38" name="Text 35"/>
          <p:cNvSpPr/>
          <p:nvPr/>
        </p:nvSpPr>
        <p:spPr>
          <a:xfrm>
            <a:off x="11132820" y="4302443"/>
            <a:ext cx="67307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Горизонтальная компоновка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1132820" y="4593908"/>
            <a:ext cx="6302426" cy="526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Наглядность процесса фронтально, удобство на столе, </a:t>
            </a:r>
            <a:r>
              <a:rPr lang="en-US" sz="1425" dirty="0" err="1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r>
              <a:rPr lang="en-US" sz="142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осевых нагрузок от веса.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4">
            <a:extLst>
              <a:ext uri="{FF2B5EF4-FFF2-40B4-BE49-F238E27FC236}">
                <a16:creationId xmlns:a16="http://schemas.microsoft.com/office/drawing/2014/main" id="{4EE36450-0556-1605-28C0-AB1C82342F05}"/>
              </a:ext>
            </a:extLst>
          </p:cNvPr>
          <p:cNvSpPr/>
          <p:nvPr/>
        </p:nvSpPr>
        <p:spPr>
          <a:xfrm>
            <a:off x="838199" y="2041208"/>
            <a:ext cx="4966020" cy="4670070"/>
          </a:xfrm>
          <a:prstGeom prst="roundRect">
            <a:avLst>
              <a:gd name="adj" fmla="val 1267"/>
            </a:avLst>
          </a:prstGeom>
          <a:solidFill>
            <a:srgbClr val="C9D0DA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DF468AF-DFB0-BCF6-699F-C58E726E5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08368"/>
            <a:ext cx="4966020" cy="395933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761334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4.3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7613345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Конструкция основных узлов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38200" y="1656398"/>
            <a:ext cx="1827276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уникальные детали — FDM-печать из PETG; металлическими остаются только стандартные покупные элементы.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72622" y="6403797"/>
            <a:ext cx="1401723" cy="278130"/>
          </a:xfrm>
          <a:prstGeom prst="roundRect">
            <a:avLst>
              <a:gd name="adj" fmla="val 13699"/>
            </a:avLst>
          </a:prstGeom>
          <a:solidFill>
            <a:srgbClr val="0E3A4C">
              <a:alpha val="7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72622" y="6403797"/>
            <a:ext cx="1401723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в сборе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207800" y="2041208"/>
            <a:ext cx="4045287" cy="2513647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62458" y="2182178"/>
            <a:ext cx="422100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Рамная станина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9462459" y="2456496"/>
            <a:ext cx="3511678" cy="52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Печатная рама из PETG; соединения винтами М3–М4 через пазы.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207800" y="4669155"/>
            <a:ext cx="4045287" cy="2513647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62458" y="4810125"/>
            <a:ext cx="422100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Шпиндельный узел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9462459" y="5084445"/>
            <a:ext cx="3807728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Печатный корпус, два подшипника 608. Вал — стандартный болт, конус-зажим, шкив GT2.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207800" y="7297103"/>
            <a:ext cx="4045287" cy="2513647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62458" y="7438073"/>
            <a:ext cx="422100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Задняя бабка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9462459" y="7712393"/>
            <a:ext cx="3807728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Вращающийся центр-конус на подшипнике — исключает трение, критично для парафина.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13404512" y="2041208"/>
            <a:ext cx="4045287" cy="2518648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659170" y="2182178"/>
            <a:ext cx="422100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резцедержателя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13659171" y="2456497"/>
            <a:ext cx="3682532" cy="59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Перемещение по двум осям. Латунные/печатные гайки, резец на М4.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3404512" y="4674156"/>
            <a:ext cx="4045287" cy="2518767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659170" y="4815126"/>
            <a:ext cx="422100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Направляющие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13683463" y="5089446"/>
            <a:ext cx="374687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Алюминиевые трубки Ø10 мм. Печатные линейные подшипники скольжения из PETG.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3404512" y="7307223"/>
            <a:ext cx="4045287" cy="2503527"/>
          </a:xfrm>
          <a:prstGeom prst="roundRect">
            <a:avLst>
              <a:gd name="adj" fmla="val 1902"/>
            </a:avLst>
          </a:prstGeom>
          <a:solidFill>
            <a:srgbClr val="0E3A4C"/>
          </a:solidFill>
          <a:ln/>
        </p:spPr>
      </p:sp>
      <p:sp>
        <p:nvSpPr>
          <p:cNvPr id="27" name="Text 24"/>
          <p:cNvSpPr/>
          <p:nvPr/>
        </p:nvSpPr>
        <p:spPr>
          <a:xfrm>
            <a:off x="13657419" y="7440573"/>
            <a:ext cx="42319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Защитный кожух</a:t>
            </a:r>
            <a:endParaRPr lang="en-US" sz="1575" dirty="0"/>
          </a:p>
        </p:txBody>
      </p:sp>
      <p:sp>
        <p:nvSpPr>
          <p:cNvPr id="28" name="Text 25"/>
          <p:cNvSpPr/>
          <p:nvPr/>
        </p:nvSpPr>
        <p:spPr>
          <a:xfrm>
            <a:off x="13683462" y="7714892"/>
            <a:ext cx="3658241" cy="731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Прозрачный </a:t>
            </a:r>
            <a:r>
              <a:rPr lang="ru-RU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поликарбонат</a:t>
            </a: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мм. Ребёнок видит процесс, не имея доступа к вращающимся частям.</a:t>
            </a:r>
            <a:endParaRPr lang="en-US" sz="13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A7DE9B1-7306-109B-F4EE-51049DA7D995}"/>
              </a:ext>
            </a:extLst>
          </p:cNvPr>
          <p:cNvSpPr/>
          <p:nvPr/>
        </p:nvSpPr>
        <p:spPr>
          <a:xfrm>
            <a:off x="5549560" y="4669155"/>
            <a:ext cx="3402662" cy="5141595"/>
          </a:xfrm>
          <a:prstGeom prst="roundRect">
            <a:avLst>
              <a:gd name="adj" fmla="val 1646"/>
            </a:avLst>
          </a:prstGeom>
          <a:solidFill>
            <a:srgbClr val="C9D0DA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1FFA1765-1ABD-21E8-92A7-0B05C8A34872}"/>
              </a:ext>
            </a:extLst>
          </p:cNvPr>
          <p:cNvSpPr/>
          <p:nvPr/>
        </p:nvSpPr>
        <p:spPr>
          <a:xfrm>
            <a:off x="5583983" y="9503269"/>
            <a:ext cx="1401723" cy="278130"/>
          </a:xfrm>
          <a:prstGeom prst="roundRect">
            <a:avLst>
              <a:gd name="adj" fmla="val 13699"/>
            </a:avLst>
          </a:prstGeom>
          <a:solidFill>
            <a:srgbClr val="0E3A4C">
              <a:alpha val="78000"/>
            </a:srgbClr>
          </a:solidFill>
          <a:ln/>
        </p:spPr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466ECEB5-6EF4-941A-DED2-4FE4994F808B}"/>
              </a:ext>
            </a:extLst>
          </p:cNvPr>
          <p:cNvSpPr/>
          <p:nvPr/>
        </p:nvSpPr>
        <p:spPr>
          <a:xfrm>
            <a:off x="5583983" y="9503269"/>
            <a:ext cx="1401723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в сборе</a:t>
            </a:r>
            <a:endParaRPr lang="en-US" sz="1200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4C7AD720-4830-4E8A-713E-07E0BB8C0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560" y="4929311"/>
            <a:ext cx="3402662" cy="45368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4">
            <a:extLst>
              <a:ext uri="{FF2B5EF4-FFF2-40B4-BE49-F238E27FC236}">
                <a16:creationId xmlns:a16="http://schemas.microsoft.com/office/drawing/2014/main" id="{7496069C-E4A3-AD9E-3BB0-C8FD2917DB50}"/>
              </a:ext>
            </a:extLst>
          </p:cNvPr>
          <p:cNvSpPr/>
          <p:nvPr/>
        </p:nvSpPr>
        <p:spPr>
          <a:xfrm>
            <a:off x="838200" y="1656398"/>
            <a:ext cx="6526531" cy="8154352"/>
          </a:xfrm>
          <a:prstGeom prst="roundRect">
            <a:avLst>
              <a:gd name="adj" fmla="val 1049"/>
            </a:avLst>
          </a:prstGeom>
          <a:solidFill>
            <a:srgbClr val="C9D0DA"/>
          </a:solidFill>
          <a:ln w="7620">
            <a:solidFill>
              <a:srgbClr val="D5E3E8"/>
            </a:solidFill>
            <a:prstDash val="solid"/>
          </a:ln>
        </p:spPr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0F0C421-253E-0695-ACF3-3C4F31D6CF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95" t="12946" r="17421" b="14031"/>
          <a:stretch/>
        </p:blipFill>
        <p:spPr>
          <a:xfrm rot="5400000">
            <a:off x="500922" y="2466976"/>
            <a:ext cx="7201083" cy="6526533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122487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4.4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12248722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управления на открытой архитектуре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28170" y="9403080"/>
            <a:ext cx="2952950" cy="299114"/>
          </a:xfrm>
          <a:prstGeom prst="roundRect">
            <a:avLst>
              <a:gd name="adj" fmla="val 11364"/>
            </a:avLst>
          </a:prstGeom>
          <a:solidFill>
            <a:srgbClr val="0E3A4C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28171" y="9403080"/>
            <a:ext cx="2952950" cy="299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Самодельная плата ESP32 + TB6612FNG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20000" y="1656398"/>
            <a:ext cx="3208020" cy="846773"/>
          </a:xfrm>
          <a:prstGeom prst="roundRect">
            <a:avLst>
              <a:gd name="adj" fmla="val 5624"/>
            </a:avLst>
          </a:prstGeom>
          <a:solidFill>
            <a:srgbClr val="D5E3E8"/>
          </a:solidFill>
          <a:ln/>
        </p:spPr>
      </p:sp>
      <p:sp>
        <p:nvSpPr>
          <p:cNvPr id="11" name="Text 8"/>
          <p:cNvSpPr/>
          <p:nvPr/>
        </p:nvSpPr>
        <p:spPr>
          <a:xfrm>
            <a:off x="7753350" y="1770698"/>
            <a:ext cx="323545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1 · ОСИ X/Y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53350" y="1968817"/>
            <a:ext cx="30295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→ TB6612FNG → шаговые двигатели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10923270" y="1656398"/>
            <a:ext cx="3208020" cy="846773"/>
          </a:xfrm>
          <a:prstGeom prst="roundRect">
            <a:avLst>
              <a:gd name="adj" fmla="val 5624"/>
            </a:avLst>
          </a:prstGeom>
          <a:solidFill>
            <a:srgbClr val="D5E3E8"/>
          </a:solidFill>
          <a:ln/>
        </p:spPr>
      </p:sp>
      <p:sp>
        <p:nvSpPr>
          <p:cNvPr id="14" name="Text 11"/>
          <p:cNvSpPr/>
          <p:nvPr/>
        </p:nvSpPr>
        <p:spPr>
          <a:xfrm>
            <a:off x="11056620" y="1770698"/>
            <a:ext cx="323545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2 · ШПИНДЕЛЬ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056620" y="1968817"/>
            <a:ext cx="3235452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12 В через ШИМ — только вручную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14226540" y="1656398"/>
            <a:ext cx="3223260" cy="846773"/>
          </a:xfrm>
          <a:prstGeom prst="roundRect">
            <a:avLst>
              <a:gd name="adj" fmla="val 5624"/>
            </a:avLst>
          </a:prstGeom>
          <a:solidFill>
            <a:srgbClr val="FBE9E8"/>
          </a:solidFill>
          <a:ln w="7620">
            <a:solidFill>
              <a:srgbClr val="F1C9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367510" y="1778317"/>
            <a:ext cx="323545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3 · АВАР. СТОП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4367510" y="1976438"/>
            <a:ext cx="30295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B94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отключает шпиндель и шаговые двигатели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7620000" y="2617470"/>
            <a:ext cx="9829800" cy="6240780"/>
          </a:xfrm>
          <a:prstGeom prst="roundRect">
            <a:avLst>
              <a:gd name="adj" fmla="val 763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18120" y="2796540"/>
            <a:ext cx="1037691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Микроконтроллер ESP32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818120" y="3143250"/>
            <a:ext cx="103769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Двухъядерный процессор до 240 МГц, больше GPIO, чем у Arduino Uno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818120" y="3467100"/>
            <a:ext cx="103769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Самодельная плата объединяет ESP32 и TB6612FNG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818120" y="3790950"/>
            <a:ext cx="103769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Прошивка GRBL — открытый интерпретатор G-кода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818120" y="4114800"/>
            <a:ext cx="103769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Драйвер TB6612FNG: 1,2 А/канал (пик 3,2 А), защита от КЗ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620000" y="8972550"/>
            <a:ext cx="9829800" cy="838200"/>
          </a:xfrm>
          <a:prstGeom prst="roundRect">
            <a:avLst>
              <a:gd name="adj" fmla="val 5682"/>
            </a:avLst>
          </a:prstGeom>
          <a:solidFill>
            <a:srgbClr val="0E3A4C"/>
          </a:solidFill>
          <a:ln/>
        </p:spPr>
      </p:sp>
      <p:sp>
        <p:nvSpPr>
          <p:cNvPr id="26" name="Text 23"/>
          <p:cNvSpPr/>
          <p:nvPr/>
        </p:nvSpPr>
        <p:spPr>
          <a:xfrm>
            <a:off x="7810500" y="9124950"/>
            <a:ext cx="938262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</a:t>
            </a:r>
            <a:r>
              <a:rPr lang="ru-RU" sz="15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ление</a:t>
            </a:r>
            <a:r>
              <a:rPr lang="ru-RU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Wi-Fi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компьютера или планшета — без физического подключения. Питание всех цепей — </a:t>
            </a:r>
            <a:r>
              <a:rPr lang="en-US" sz="15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аккумулятор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7 -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В, сети 220 В </a:t>
            </a:r>
            <a:r>
              <a:rPr lang="en-US" sz="15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925595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9255955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— основа концепции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24484" y="590550"/>
            <a:ext cx="70151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38200" y="1637348"/>
            <a:ext cx="16611600" cy="426720"/>
          </a:xfrm>
          <a:prstGeom prst="roundRect">
            <a:avLst>
              <a:gd name="adj" fmla="val 11161"/>
            </a:avLst>
          </a:prstGeom>
          <a:solidFill>
            <a:srgbClr val="D5E3E8"/>
          </a:solidFill>
          <a:ln/>
        </p:spPr>
      </p:sp>
      <p:sp>
        <p:nvSpPr>
          <p:cNvPr id="7" name="Text 5"/>
          <p:cNvSpPr/>
          <p:nvPr/>
        </p:nvSpPr>
        <p:spPr>
          <a:xfrm>
            <a:off x="1009650" y="1732598"/>
            <a:ext cx="16767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7343A"/>
                </a:solidFill>
                <a:highlight>
                  <a:srgbClr val="D5E3E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Нормативная база: </a:t>
            </a:r>
            <a:r>
              <a:rPr lang="en-US" sz="150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 28139-89 </a:t>
            </a:r>
            <a:r>
              <a:rPr lang="en-US" sz="1500" dirty="0">
                <a:solidFill>
                  <a:srgbClr val="27343A"/>
                </a:solidFill>
                <a:highlight>
                  <a:srgbClr val="D5E3E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и новый </a:t>
            </a:r>
            <a:r>
              <a:rPr lang="en-US" sz="150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 Р «Оборудование учебное» </a:t>
            </a:r>
            <a:r>
              <a:rPr lang="en-US" sz="1500" dirty="0">
                <a:solidFill>
                  <a:srgbClr val="27343A"/>
                </a:solidFill>
                <a:highlight>
                  <a:srgbClr val="D5E3E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(с июня 2026).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8200" y="2216467"/>
            <a:ext cx="4038600" cy="7594282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6320" y="2414588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0E3A4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3470" y="2471738"/>
            <a:ext cx="266700" cy="2667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12570" y="2483168"/>
            <a:ext cx="153718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Механическая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036320" y="2909888"/>
            <a:ext cx="342900" cy="28575"/>
          </a:xfrm>
          <a:prstGeom prst="roundRect">
            <a:avLst>
              <a:gd name="adj" fmla="val 50000"/>
            </a:avLst>
          </a:prstGeom>
          <a:solidFill>
            <a:srgbClr val="1B7A8C"/>
          </a:solidFill>
          <a:ln/>
        </p:spPr>
      </p:sp>
      <p:sp>
        <p:nvSpPr>
          <p:cNvPr id="13" name="Text 10"/>
          <p:cNvSpPr/>
          <p:nvPr/>
        </p:nvSpPr>
        <p:spPr>
          <a:xfrm>
            <a:off x="1036320" y="3052763"/>
            <a:ext cx="4006596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Обороты ≤ 915 об/мин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36320" y="3370897"/>
            <a:ext cx="4006596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ru-RU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Поликарбонатный</a:t>
            </a: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кожух 3 мм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36320" y="3689033"/>
            <a:ext cx="4006596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Кнопка аварийного стопа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0" y="2216467"/>
            <a:ext cx="4038600" cy="7594282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27320" y="2414588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0E3A4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84470" y="2471738"/>
            <a:ext cx="266700" cy="2667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03570" y="2483168"/>
            <a:ext cx="16092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Электрическая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5227320" y="2909888"/>
            <a:ext cx="342900" cy="28575"/>
          </a:xfrm>
          <a:prstGeom prst="roundRect">
            <a:avLst>
              <a:gd name="adj" fmla="val 50000"/>
            </a:avLst>
          </a:prstGeom>
          <a:solidFill>
            <a:srgbClr val="1B7A8C"/>
          </a:solidFill>
          <a:ln/>
        </p:spPr>
      </p:sp>
      <p:sp>
        <p:nvSpPr>
          <p:cNvPr id="22" name="Text 18"/>
          <p:cNvSpPr/>
          <p:nvPr/>
        </p:nvSpPr>
        <p:spPr>
          <a:xfrm>
            <a:off x="5227320" y="3052763"/>
            <a:ext cx="4006596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Питание 12 В DC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227320" y="3370897"/>
            <a:ext cx="4006596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Нет 220 В в рабочей зоне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227320" y="3689033"/>
            <a:ext cx="4006596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Нет открытых контактов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9220200" y="2216467"/>
            <a:ext cx="4038600" cy="7594282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418320" y="2414588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0E3A4C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75470" y="2471738"/>
            <a:ext cx="266700" cy="2667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894570" y="2483168"/>
            <a:ext cx="10600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Пожарная</a:t>
            </a:r>
            <a:endParaRPr lang="en-US" sz="1650" dirty="0"/>
          </a:p>
        </p:txBody>
      </p:sp>
      <p:sp>
        <p:nvSpPr>
          <p:cNvPr id="30" name="Shape 25"/>
          <p:cNvSpPr/>
          <p:nvPr/>
        </p:nvSpPr>
        <p:spPr>
          <a:xfrm>
            <a:off x="9418320" y="2909888"/>
            <a:ext cx="342900" cy="28575"/>
          </a:xfrm>
          <a:prstGeom prst="roundRect">
            <a:avLst>
              <a:gd name="adj" fmla="val 50000"/>
            </a:avLst>
          </a:prstGeom>
          <a:solidFill>
            <a:srgbClr val="1B7A8C"/>
          </a:solidFill>
          <a:ln/>
        </p:spPr>
      </p:sp>
      <p:sp>
        <p:nvSpPr>
          <p:cNvPr id="31" name="Text 26"/>
          <p:cNvSpPr/>
          <p:nvPr/>
        </p:nvSpPr>
        <p:spPr>
          <a:xfrm>
            <a:off x="9418320" y="3052763"/>
            <a:ext cx="4006596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Нет нагревательных элементов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9418320" y="3370897"/>
            <a:ext cx="4006596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Ограничение тока двигателя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9418320" y="3689033"/>
            <a:ext cx="4006596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PETG, акрил — не воспламеняемы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9418320" y="4007168"/>
            <a:ext cx="4006596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Крошка не пожароопасна</a:t>
            </a:r>
            <a:endParaRPr lang="en-US" sz="1350" dirty="0"/>
          </a:p>
        </p:txBody>
      </p:sp>
      <p:sp>
        <p:nvSpPr>
          <p:cNvPr id="35" name="Shape 30"/>
          <p:cNvSpPr/>
          <p:nvPr/>
        </p:nvSpPr>
        <p:spPr>
          <a:xfrm>
            <a:off x="13411200" y="2216467"/>
            <a:ext cx="4038600" cy="7594282"/>
          </a:xfrm>
          <a:prstGeom prst="roundRect">
            <a:avLst>
              <a:gd name="adj" fmla="val 1415"/>
            </a:avLst>
          </a:prstGeom>
          <a:solidFill>
            <a:srgbClr val="0E3A4C"/>
          </a:solidFill>
          <a:ln/>
        </p:spPr>
      </p:sp>
      <p:sp>
        <p:nvSpPr>
          <p:cNvPr id="36" name="Shape 31"/>
          <p:cNvSpPr/>
          <p:nvPr/>
        </p:nvSpPr>
        <p:spPr>
          <a:xfrm>
            <a:off x="13601700" y="2406967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658850" y="2464118"/>
            <a:ext cx="266700" cy="2667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4077950" y="2475547"/>
            <a:ext cx="176637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Эргономическая</a:t>
            </a:r>
            <a:endParaRPr lang="en-US" sz="1650" dirty="0"/>
          </a:p>
        </p:txBody>
      </p:sp>
      <p:sp>
        <p:nvSpPr>
          <p:cNvPr id="39" name="Shape 33"/>
          <p:cNvSpPr/>
          <p:nvPr/>
        </p:nvSpPr>
        <p:spPr>
          <a:xfrm>
            <a:off x="13601700" y="2902268"/>
            <a:ext cx="342900" cy="28575"/>
          </a:xfrm>
          <a:prstGeom prst="roundRect">
            <a:avLst>
              <a:gd name="adj" fmla="val 50000"/>
            </a:avLst>
          </a:prstGeom>
          <a:solidFill>
            <a:srgbClr val="E08A00"/>
          </a:solidFill>
          <a:ln/>
        </p:spPr>
      </p:sp>
      <p:sp>
        <p:nvSpPr>
          <p:cNvPr id="40" name="Text 34"/>
          <p:cNvSpPr/>
          <p:nvPr/>
        </p:nvSpPr>
        <p:spPr>
          <a:xfrm>
            <a:off x="13601700" y="3045143"/>
            <a:ext cx="4023360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Уровень шума ≤ 60 дБ</a:t>
            </a:r>
            <a:endParaRPr lang="en-US" sz="1350" dirty="0"/>
          </a:p>
        </p:txBody>
      </p:sp>
      <p:sp>
        <p:nvSpPr>
          <p:cNvPr id="41" name="Text 35"/>
          <p:cNvSpPr/>
          <p:nvPr/>
        </p:nvSpPr>
        <p:spPr>
          <a:xfrm>
            <a:off x="13601700" y="3363278"/>
            <a:ext cx="4023360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Обзор через кожух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13601700" y="3681413"/>
            <a:ext cx="4023360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Ремень гасит вибрацию</a:t>
            </a:r>
            <a:endParaRPr lang="en-US" sz="1350" dirty="0"/>
          </a:p>
        </p:txBody>
      </p:sp>
      <p:sp>
        <p:nvSpPr>
          <p:cNvPr id="43" name="Text 37"/>
          <p:cNvSpPr/>
          <p:nvPr/>
        </p:nvSpPr>
        <p:spPr>
          <a:xfrm>
            <a:off x="13601700" y="3999547"/>
            <a:ext cx="4023360" cy="26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Нет полостей с крошкой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876508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6.1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8765084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характеристики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38200" y="1675448"/>
            <a:ext cx="5435561" cy="1082040"/>
          </a:xfrm>
          <a:prstGeom prst="roundRect">
            <a:avLst>
              <a:gd name="adj" fmla="val 5282"/>
            </a:avLst>
          </a:prstGeom>
          <a:solidFill>
            <a:srgbClr val="0E3A4C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865948"/>
            <a:ext cx="547619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мм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066800" y="2361248"/>
            <a:ext cx="547619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расстояние между бабками (ось X)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26161" y="1675448"/>
            <a:ext cx="5435561" cy="1082040"/>
          </a:xfrm>
          <a:prstGeom prst="roundRect">
            <a:avLst>
              <a:gd name="adj" fmla="val 5282"/>
            </a:avLst>
          </a:prstGeom>
          <a:solidFill>
            <a:srgbClr val="0E3A4C"/>
          </a:solidFill>
          <a:ln/>
        </p:spPr>
      </p:sp>
      <p:sp>
        <p:nvSpPr>
          <p:cNvPr id="10" name="Text 8"/>
          <p:cNvSpPr/>
          <p:nvPr/>
        </p:nvSpPr>
        <p:spPr>
          <a:xfrm>
            <a:off x="6654761" y="1865948"/>
            <a:ext cx="547619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мм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654761" y="2361248"/>
            <a:ext cx="547619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ход резцедержателя по 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014121" y="1675448"/>
            <a:ext cx="5435561" cy="1082040"/>
          </a:xfrm>
          <a:prstGeom prst="roundRect">
            <a:avLst>
              <a:gd name="adj" fmla="val 5282"/>
            </a:avLst>
          </a:prstGeom>
          <a:solidFill>
            <a:srgbClr val="E08A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242721" y="1865948"/>
            <a:ext cx="547619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±0,05 </a:t>
            </a:r>
            <a:r>
              <a:rPr lang="en-US" sz="18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мм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2242721" y="2361248"/>
            <a:ext cx="547619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погрешность позиционирования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8200" y="2909888"/>
            <a:ext cx="5435561" cy="109728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4420" y="3108008"/>
            <a:ext cx="545943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0,01 </a:t>
            </a:r>
            <a:r>
              <a:rPr lang="en-US" sz="180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мм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074420" y="3603308"/>
            <a:ext cx="545943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дискретность перемещения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26161" y="2909888"/>
            <a:ext cx="5435561" cy="109728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2381" y="3108008"/>
            <a:ext cx="545943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400–700 </a:t>
            </a: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об/мин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62381" y="3546158"/>
            <a:ext cx="545943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рекомендуемый рабочий диапазон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2014121" y="2909888"/>
            <a:ext cx="5435561" cy="109728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0341" y="3108008"/>
            <a:ext cx="545943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4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7 - </a:t>
            </a:r>
            <a:r>
              <a:rPr lang="en-US" sz="34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</a:t>
            </a:r>
            <a:r>
              <a:rPr lang="en-US" sz="180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DC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12250341" y="3603308"/>
            <a:ext cx="545943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напряжение питания (аккумулятор)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8200" y="4178618"/>
            <a:ext cx="16611600" cy="5632132"/>
          </a:xfrm>
          <a:prstGeom prst="roundRect">
            <a:avLst>
              <a:gd name="adj" fmla="val 1015"/>
            </a:avLst>
          </a:prstGeom>
          <a:solidFill>
            <a:srgbClr val="D5E3E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6895624"/>
            <a:ext cx="3767447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ТЕХНОЛОГИЧЕСКИЕ ВОЗМОЖНОСТИ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44152" y="6690836"/>
            <a:ext cx="12973982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Продольное и поперечное точение · подрезка торцов · конические и фасонные поверхности (интерполяция по двум осям). Учебные изделия из парафина: цилиндры и шары, шахматные фигуры, миниатюрные вазы, «ступенчатый вал», «конус».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832935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6.3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8329351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Экономические характеристики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38200" y="1675448"/>
            <a:ext cx="6374487" cy="6592253"/>
          </a:xfrm>
          <a:prstGeom prst="roundRect">
            <a:avLst>
              <a:gd name="adj" fmla="val 897"/>
            </a:avLst>
          </a:prstGeom>
          <a:solidFill>
            <a:srgbClr val="0E3A4C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4224814"/>
            <a:ext cx="642519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8F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 СТАНКА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04900" y="4499134"/>
            <a:ext cx="642519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ru-RU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ru-RU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тыс. ₽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104900" y="5203984"/>
            <a:ext cx="60163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Существенно ниже любого коммерческого учебного аналога с ЧПУ.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8200" y="8420100"/>
            <a:ext cx="6374487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2520" y="8637270"/>
            <a:ext cx="640843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ЗАМЕНА ПЕЧАТНОГО УЗЛА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12520" y="8892540"/>
            <a:ext cx="64084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90–180 ₽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12520" y="9387840"/>
            <a:ext cx="640843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Перепечатка детали 50–100 г при цене PETG ~1 800 ₽/кг.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79387" y="1675448"/>
            <a:ext cx="9970414" cy="8135303"/>
          </a:xfrm>
          <a:prstGeom prst="roundRect">
            <a:avLst>
              <a:gd name="adj" fmla="val 702"/>
            </a:avLst>
          </a:prstGeom>
          <a:solidFill>
            <a:srgbClr val="FFFFFF"/>
          </a:solidFill>
          <a:ln w="7620">
            <a:solidFill>
              <a:srgbClr val="D5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3708" y="1911667"/>
            <a:ext cx="103639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СЕБЕСТОИМОСТИ, ₽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01308" y="4280059"/>
            <a:ext cx="1676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Филамент PETG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9411058" y="4264819"/>
            <a:ext cx="7135773" cy="228600"/>
          </a:xfrm>
          <a:prstGeom prst="roundRect">
            <a:avLst>
              <a:gd name="adj" fmla="val 16667"/>
            </a:avLst>
          </a:prstGeom>
          <a:solidFill>
            <a:srgbClr val="EDF1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411058" y="4264819"/>
            <a:ext cx="7135773" cy="228600"/>
          </a:xfrm>
          <a:prstGeom prst="roundRect">
            <a:avLst>
              <a:gd name="adj" fmla="val 16667"/>
            </a:avLst>
          </a:prstGeom>
          <a:solidFill>
            <a:srgbClr val="0E3A4C"/>
          </a:solidFill>
          <a:ln/>
        </p:spPr>
      </p:sp>
      <p:sp>
        <p:nvSpPr>
          <p:cNvPr id="19" name="Text 17"/>
          <p:cNvSpPr/>
          <p:nvPr/>
        </p:nvSpPr>
        <p:spPr>
          <a:xfrm>
            <a:off x="16603981" y="4283869"/>
            <a:ext cx="571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1 800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7601308" y="4622959"/>
            <a:ext cx="1676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Аккумуляторы </a:t>
            </a:r>
            <a:r>
              <a:rPr lang="ru-RU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7 - </a:t>
            </a:r>
            <a:r>
              <a:rPr lang="en-US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В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9411058" y="4607719"/>
            <a:ext cx="7135773" cy="228600"/>
          </a:xfrm>
          <a:prstGeom prst="roundRect">
            <a:avLst>
              <a:gd name="adj" fmla="val 16667"/>
            </a:avLst>
          </a:prstGeom>
          <a:solidFill>
            <a:srgbClr val="EDF1F8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1058" y="4607719"/>
            <a:ext cx="2376130" cy="228600"/>
          </a:xfrm>
          <a:prstGeom prst="roundRect">
            <a:avLst>
              <a:gd name="adj" fmla="val 16667"/>
            </a:avLst>
          </a:prstGeom>
          <a:solidFill>
            <a:srgbClr val="1B7A8C"/>
          </a:solidFill>
          <a:ln/>
        </p:spPr>
      </p:sp>
      <p:sp>
        <p:nvSpPr>
          <p:cNvPr id="23" name="Text 21"/>
          <p:cNvSpPr/>
          <p:nvPr/>
        </p:nvSpPr>
        <p:spPr>
          <a:xfrm>
            <a:off x="16603981" y="4626769"/>
            <a:ext cx="571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7601308" y="4965859"/>
            <a:ext cx="1676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Шаговые двигатели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9411058" y="4950619"/>
            <a:ext cx="7135773" cy="228600"/>
          </a:xfrm>
          <a:prstGeom prst="roundRect">
            <a:avLst>
              <a:gd name="adj" fmla="val 16667"/>
            </a:avLst>
          </a:prstGeom>
          <a:solidFill>
            <a:srgbClr val="EDF1F8"/>
          </a:solidFill>
          <a:ln/>
        </p:spPr>
      </p:sp>
      <p:sp>
        <p:nvSpPr>
          <p:cNvPr id="26" name="Shape 24"/>
          <p:cNvSpPr/>
          <p:nvPr/>
        </p:nvSpPr>
        <p:spPr>
          <a:xfrm>
            <a:off x="9411058" y="4950619"/>
            <a:ext cx="2376130" cy="228600"/>
          </a:xfrm>
          <a:prstGeom prst="roundRect">
            <a:avLst>
              <a:gd name="adj" fmla="val 16667"/>
            </a:avLst>
          </a:prstGeom>
          <a:solidFill>
            <a:srgbClr val="1B7A8C"/>
          </a:solidFill>
          <a:ln/>
        </p:spPr>
      </p:sp>
      <p:sp>
        <p:nvSpPr>
          <p:cNvPr id="27" name="Text 25"/>
          <p:cNvSpPr/>
          <p:nvPr/>
        </p:nvSpPr>
        <p:spPr>
          <a:xfrm>
            <a:off x="16603981" y="4969669"/>
            <a:ext cx="571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601308" y="5377339"/>
            <a:ext cx="16764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Двигатель шпинделя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9411058" y="5377339"/>
            <a:ext cx="7135773" cy="228600"/>
          </a:xfrm>
          <a:prstGeom prst="roundRect">
            <a:avLst>
              <a:gd name="adj" fmla="val 16667"/>
            </a:avLst>
          </a:prstGeom>
          <a:solidFill>
            <a:srgbClr val="EDF1F8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1058" y="5377339"/>
            <a:ext cx="1584127" cy="228600"/>
          </a:xfrm>
          <a:prstGeom prst="roundRect">
            <a:avLst>
              <a:gd name="adj" fmla="val 16667"/>
            </a:avLst>
          </a:prstGeom>
          <a:solidFill>
            <a:srgbClr val="E08A00"/>
          </a:solidFill>
          <a:ln/>
        </p:spPr>
      </p:sp>
      <p:sp>
        <p:nvSpPr>
          <p:cNvPr id="31" name="Text 29"/>
          <p:cNvSpPr/>
          <p:nvPr/>
        </p:nvSpPr>
        <p:spPr>
          <a:xfrm>
            <a:off x="16603981" y="5396389"/>
            <a:ext cx="571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7601308" y="5819299"/>
            <a:ext cx="1676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+ плата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9411058" y="5804059"/>
            <a:ext cx="7135773" cy="228600"/>
          </a:xfrm>
          <a:prstGeom prst="roundRect">
            <a:avLst>
              <a:gd name="adj" fmla="val 16667"/>
            </a:avLst>
          </a:prstGeom>
          <a:solidFill>
            <a:srgbClr val="EDF1F8"/>
          </a:solidFill>
          <a:ln/>
        </p:spPr>
      </p:sp>
      <p:sp>
        <p:nvSpPr>
          <p:cNvPr id="34" name="Shape 32"/>
          <p:cNvSpPr/>
          <p:nvPr/>
        </p:nvSpPr>
        <p:spPr>
          <a:xfrm>
            <a:off x="9411058" y="5804059"/>
            <a:ext cx="1384340" cy="228600"/>
          </a:xfrm>
          <a:prstGeom prst="roundRect">
            <a:avLst>
              <a:gd name="adj" fmla="val 16667"/>
            </a:avLst>
          </a:prstGeom>
          <a:solidFill>
            <a:srgbClr val="E08A00"/>
          </a:solidFill>
          <a:ln/>
        </p:spPr>
      </p:sp>
      <p:sp>
        <p:nvSpPr>
          <p:cNvPr id="35" name="Text 33"/>
          <p:cNvSpPr/>
          <p:nvPr/>
        </p:nvSpPr>
        <p:spPr>
          <a:xfrm>
            <a:off x="16603981" y="5823109"/>
            <a:ext cx="571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7601308" y="6162199"/>
            <a:ext cx="1676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ШИМ + кнопки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9411058" y="6146959"/>
            <a:ext cx="7135773" cy="228600"/>
          </a:xfrm>
          <a:prstGeom prst="roundRect">
            <a:avLst>
              <a:gd name="adj" fmla="val 16667"/>
            </a:avLst>
          </a:prstGeom>
          <a:solidFill>
            <a:srgbClr val="EDF1F8"/>
          </a:solidFill>
          <a:ln/>
        </p:spPr>
      </p:sp>
      <p:sp>
        <p:nvSpPr>
          <p:cNvPr id="38" name="Shape 36"/>
          <p:cNvSpPr/>
          <p:nvPr/>
        </p:nvSpPr>
        <p:spPr>
          <a:xfrm>
            <a:off x="9411058" y="6146959"/>
            <a:ext cx="1384340" cy="228600"/>
          </a:xfrm>
          <a:prstGeom prst="roundRect">
            <a:avLst>
              <a:gd name="adj" fmla="val 16667"/>
            </a:avLst>
          </a:prstGeom>
          <a:solidFill>
            <a:srgbClr val="E08A00"/>
          </a:solidFill>
          <a:ln/>
        </p:spPr>
      </p:sp>
      <p:sp>
        <p:nvSpPr>
          <p:cNvPr id="39" name="Text 37"/>
          <p:cNvSpPr/>
          <p:nvPr/>
        </p:nvSpPr>
        <p:spPr>
          <a:xfrm>
            <a:off x="16603981" y="6166009"/>
            <a:ext cx="571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7677508" y="6573679"/>
            <a:ext cx="16002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Подшипники/крепёж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9411058" y="6573679"/>
            <a:ext cx="7135773" cy="228600"/>
          </a:xfrm>
          <a:prstGeom prst="roundRect">
            <a:avLst>
              <a:gd name="adj" fmla="val 16667"/>
            </a:avLst>
          </a:prstGeom>
          <a:solidFill>
            <a:srgbClr val="EDF1F8"/>
          </a:solidFill>
          <a:ln/>
        </p:spPr>
      </p:sp>
      <p:sp>
        <p:nvSpPr>
          <p:cNvPr id="42" name="Shape 40"/>
          <p:cNvSpPr/>
          <p:nvPr/>
        </p:nvSpPr>
        <p:spPr>
          <a:xfrm>
            <a:off x="9411058" y="6573679"/>
            <a:ext cx="1270159" cy="228600"/>
          </a:xfrm>
          <a:prstGeom prst="roundRect">
            <a:avLst>
              <a:gd name="adj" fmla="val 16667"/>
            </a:avLst>
          </a:prstGeom>
          <a:solidFill>
            <a:srgbClr val="6B7B82"/>
          </a:solidFill>
          <a:ln/>
        </p:spPr>
      </p:sp>
      <p:sp>
        <p:nvSpPr>
          <p:cNvPr id="43" name="Text 41"/>
          <p:cNvSpPr/>
          <p:nvPr/>
        </p:nvSpPr>
        <p:spPr>
          <a:xfrm>
            <a:off x="16603981" y="6592729"/>
            <a:ext cx="571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7601308" y="7000399"/>
            <a:ext cx="16764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Акрил кожуха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9411058" y="7000399"/>
            <a:ext cx="7135773" cy="228600"/>
          </a:xfrm>
          <a:prstGeom prst="roundRect">
            <a:avLst>
              <a:gd name="adj" fmla="val 16667"/>
            </a:avLst>
          </a:prstGeom>
          <a:solidFill>
            <a:srgbClr val="EDF1F8"/>
          </a:solidFill>
          <a:ln/>
        </p:spPr>
      </p:sp>
      <p:sp>
        <p:nvSpPr>
          <p:cNvPr id="46" name="Shape 44"/>
          <p:cNvSpPr/>
          <p:nvPr/>
        </p:nvSpPr>
        <p:spPr>
          <a:xfrm>
            <a:off x="9411058" y="7000399"/>
            <a:ext cx="792004" cy="228600"/>
          </a:xfrm>
          <a:prstGeom prst="roundRect">
            <a:avLst>
              <a:gd name="adj" fmla="val 16667"/>
            </a:avLst>
          </a:prstGeom>
          <a:solidFill>
            <a:srgbClr val="6B7B82"/>
          </a:solidFill>
          <a:ln/>
        </p:spPr>
      </p:sp>
      <p:sp>
        <p:nvSpPr>
          <p:cNvPr id="47" name="Text 45"/>
          <p:cNvSpPr/>
          <p:nvPr/>
        </p:nvSpPr>
        <p:spPr>
          <a:xfrm>
            <a:off x="16603981" y="7019449"/>
            <a:ext cx="571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7601308" y="7358539"/>
            <a:ext cx="1676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Направляющие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9411058" y="7343299"/>
            <a:ext cx="7135773" cy="228600"/>
          </a:xfrm>
          <a:prstGeom prst="roundRect">
            <a:avLst>
              <a:gd name="adj" fmla="val 16667"/>
            </a:avLst>
          </a:prstGeom>
          <a:solidFill>
            <a:srgbClr val="EDF1F8"/>
          </a:solidFill>
          <a:ln/>
        </p:spPr>
      </p:sp>
      <p:sp>
        <p:nvSpPr>
          <p:cNvPr id="50" name="Shape 48"/>
          <p:cNvSpPr/>
          <p:nvPr/>
        </p:nvSpPr>
        <p:spPr>
          <a:xfrm>
            <a:off x="9411058" y="7343299"/>
            <a:ext cx="592217" cy="228600"/>
          </a:xfrm>
          <a:prstGeom prst="roundRect">
            <a:avLst>
              <a:gd name="adj" fmla="val 16667"/>
            </a:avLst>
          </a:prstGeom>
          <a:solidFill>
            <a:srgbClr val="6B7B82"/>
          </a:solidFill>
          <a:ln/>
        </p:spPr>
      </p:sp>
      <p:sp>
        <p:nvSpPr>
          <p:cNvPr id="51" name="Text 49"/>
          <p:cNvSpPr/>
          <p:nvPr/>
        </p:nvSpPr>
        <p:spPr>
          <a:xfrm>
            <a:off x="16603981" y="7362349"/>
            <a:ext cx="571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469708"/>
            <a:ext cx="16611600" cy="15240"/>
          </a:xfrm>
          <a:prstGeom prst="rect">
            <a:avLst/>
          </a:prstGeom>
          <a:solidFill>
            <a:srgbClr val="0E3A4C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514350"/>
            <a:ext cx="487583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1B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8200" y="796290"/>
            <a:ext cx="4875836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 по работе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808887" y="59055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</a:t>
            </a:r>
            <a:r>
              <a:rPr lang="ru-RU" sz="1650" b="1" dirty="0">
                <a:solidFill>
                  <a:srgbClr val="6B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38200" y="1637348"/>
            <a:ext cx="5448300" cy="3539966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38200" y="5169694"/>
            <a:ext cx="544830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8" name="Shape 6"/>
          <p:cNvSpPr/>
          <p:nvPr/>
        </p:nvSpPr>
        <p:spPr>
          <a:xfrm>
            <a:off x="838200" y="1637348"/>
            <a:ext cx="544830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9" name="Shape 7"/>
          <p:cNvSpPr/>
          <p:nvPr/>
        </p:nvSpPr>
        <p:spPr>
          <a:xfrm>
            <a:off x="838200" y="1637348"/>
            <a:ext cx="38100" cy="3539966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10" name="Shape 8"/>
          <p:cNvSpPr/>
          <p:nvPr/>
        </p:nvSpPr>
        <p:spPr>
          <a:xfrm>
            <a:off x="6278880" y="1637348"/>
            <a:ext cx="9525" cy="3539966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1816417"/>
            <a:ext cx="55237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2033588"/>
            <a:ext cx="552373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Определена незанятая ниша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66800" y="2325053"/>
            <a:ext cx="5172228" cy="80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один аналог не сочетает малую массу, 12 В, мягкие материалы, открытую архитектуру и детскую защиту.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19850" y="1637348"/>
            <a:ext cx="5448300" cy="3539966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9850" y="5169694"/>
            <a:ext cx="544830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19850" y="1637348"/>
            <a:ext cx="544830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9850" y="1637348"/>
            <a:ext cx="38100" cy="3539966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60530" y="1637348"/>
            <a:ext cx="9525" cy="3539966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19" name="Text 17"/>
          <p:cNvSpPr/>
          <p:nvPr/>
        </p:nvSpPr>
        <p:spPr>
          <a:xfrm>
            <a:off x="6648450" y="1816417"/>
            <a:ext cx="55237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48450" y="2033588"/>
            <a:ext cx="552373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Обоснована концепция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48450" y="2325053"/>
            <a:ext cx="5172228" cy="80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решения: парафин, питание 12 В, PETG с открытым управлением.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2001500" y="1637348"/>
            <a:ext cx="5448300" cy="3539966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0" y="5169694"/>
            <a:ext cx="544830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01500" y="1637348"/>
            <a:ext cx="544830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0" y="1637348"/>
            <a:ext cx="38100" cy="3539966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26" name="Shape 24"/>
          <p:cNvSpPr/>
          <p:nvPr/>
        </p:nvSpPr>
        <p:spPr>
          <a:xfrm>
            <a:off x="17442180" y="1637348"/>
            <a:ext cx="9525" cy="3539966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27" name="Text 25"/>
          <p:cNvSpPr/>
          <p:nvPr/>
        </p:nvSpPr>
        <p:spPr>
          <a:xfrm>
            <a:off x="12230100" y="1816417"/>
            <a:ext cx="55237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230100" y="2033588"/>
            <a:ext cx="552373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Спроектирована конструкция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230100" y="2325052"/>
            <a:ext cx="5172228" cy="998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Двухкоординатная подача 220×210 мм; PETG, алюминиевые направляющие Ø10 мм.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8200" y="5310664"/>
            <a:ext cx="5448300" cy="3539966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38200" y="8843010"/>
            <a:ext cx="544830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32" name="Shape 30"/>
          <p:cNvSpPr/>
          <p:nvPr/>
        </p:nvSpPr>
        <p:spPr>
          <a:xfrm>
            <a:off x="838200" y="5310664"/>
            <a:ext cx="544830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33" name="Shape 31"/>
          <p:cNvSpPr/>
          <p:nvPr/>
        </p:nvSpPr>
        <p:spPr>
          <a:xfrm>
            <a:off x="838200" y="5310664"/>
            <a:ext cx="38100" cy="3539966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34" name="Shape 32"/>
          <p:cNvSpPr/>
          <p:nvPr/>
        </p:nvSpPr>
        <p:spPr>
          <a:xfrm>
            <a:off x="6278880" y="5310664"/>
            <a:ext cx="9525" cy="3539966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35" name="Text 33"/>
          <p:cNvSpPr/>
          <p:nvPr/>
        </p:nvSpPr>
        <p:spPr>
          <a:xfrm>
            <a:off x="1066800" y="5489734"/>
            <a:ext cx="55237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66800" y="5706904"/>
            <a:ext cx="552373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ru-RU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Адаптирована</a:t>
            </a: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система управления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066800" y="5998369"/>
            <a:ext cx="5172228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Самодельная плата ESP32 + TB6612FNG.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419850" y="5310664"/>
            <a:ext cx="5448300" cy="3539966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419850" y="8843010"/>
            <a:ext cx="544830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9850" y="5310664"/>
            <a:ext cx="5448300" cy="9525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41" name="Shape 39"/>
          <p:cNvSpPr/>
          <p:nvPr/>
        </p:nvSpPr>
        <p:spPr>
          <a:xfrm>
            <a:off x="6419850" y="5310664"/>
            <a:ext cx="38100" cy="3539966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42" name="Shape 40"/>
          <p:cNvSpPr/>
          <p:nvPr/>
        </p:nvSpPr>
        <p:spPr>
          <a:xfrm>
            <a:off x="11860530" y="5310664"/>
            <a:ext cx="9525" cy="3539966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43" name="Text 41"/>
          <p:cNvSpPr/>
          <p:nvPr/>
        </p:nvSpPr>
        <p:spPr>
          <a:xfrm>
            <a:off x="6648450" y="5489734"/>
            <a:ext cx="55237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48450" y="5706904"/>
            <a:ext cx="552373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Проработана технология печати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6648450" y="5998369"/>
            <a:ext cx="5172228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 FDM из PETG, 9 этапов сборки, распространение в виде STL.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2001500" y="5310664"/>
            <a:ext cx="5448300" cy="3539966"/>
          </a:xfrm>
          <a:prstGeom prst="roundRect">
            <a:avLst>
              <a:gd name="adj" fmla="val 1345"/>
            </a:avLst>
          </a:prstGeom>
          <a:solidFill>
            <a:srgbClr val="0E3A4C"/>
          </a:solidFill>
          <a:ln/>
        </p:spPr>
      </p:sp>
      <p:sp>
        <p:nvSpPr>
          <p:cNvPr id="47" name="Text 45"/>
          <p:cNvSpPr/>
          <p:nvPr/>
        </p:nvSpPr>
        <p:spPr>
          <a:xfrm>
            <a:off x="12192000" y="5482114"/>
            <a:ext cx="557403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2192000" y="5699284"/>
            <a:ext cx="557403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Обоснована безопасность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2192000" y="5990749"/>
            <a:ext cx="5219319" cy="674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ru-RU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7 - </a:t>
            </a: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В, </a:t>
            </a:r>
            <a:r>
              <a:rPr lang="ru-RU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поликарбонатный</a:t>
            </a:r>
            <a:r>
              <a:rPr lang="en-US" sz="1350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кожух, аварийный стоп, нетоксичные материалы — ГОСТ 28139-89 и ГОСТ Р 2026.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838200" y="8983980"/>
            <a:ext cx="16611600" cy="826770"/>
          </a:xfrm>
          <a:prstGeom prst="roundRect">
            <a:avLst>
              <a:gd name="adj" fmla="val 5760"/>
            </a:avLst>
          </a:prstGeom>
          <a:solidFill>
            <a:srgbClr val="D5E3E8"/>
          </a:solidFill>
          <a:ln/>
        </p:spPr>
      </p:sp>
      <p:sp>
        <p:nvSpPr>
          <p:cNvPr id="51" name="Text 49"/>
          <p:cNvSpPr/>
          <p:nvPr/>
        </p:nvSpPr>
        <p:spPr>
          <a:xfrm>
            <a:off x="1028700" y="9309735"/>
            <a:ext cx="276737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0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ЗНАЧИМОСТЬ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96891" y="9117330"/>
            <a:ext cx="13969282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Любое учреждение с </a:t>
            </a:r>
            <a:r>
              <a:rPr lang="ru-RU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настольным</a:t>
            </a:r>
            <a:r>
              <a:rPr lang="en-US" sz="1575" dirty="0">
                <a:solidFill>
                  <a:srgbClr val="2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3D-принтером может изготовить, собрать и эксплуатировать станок; открытые модели делают его объектом проектной деятельности учащихся.</a:t>
            </a:r>
            <a:endParaRPr lang="en-US" sz="15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3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1B7A8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763000" y="2796064"/>
            <a:ext cx="762000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14222" y="3824764"/>
            <a:ext cx="1025943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709952" y="4891564"/>
            <a:ext cx="486797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50" dirty="0">
                <a:solidFill>
                  <a:srgbClr val="8F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ответить на вопросы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4729163" y="5600224"/>
            <a:ext cx="8829675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2025" dirty="0">
                <a:solidFill>
                  <a:srgbClr val="9F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Малогабаритный токарный станок с элементами ЧПУ для обработки мягких материалов в детской учебной мастерской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5540216" y="6688931"/>
            <a:ext cx="7207448" cy="9525"/>
          </a:xfrm>
          <a:prstGeom prst="rect">
            <a:avLst/>
          </a:prstGeom>
          <a:solidFill>
            <a:srgbClr val="8FC1CC">
              <a:alpha val="3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473351" y="6963251"/>
            <a:ext cx="147104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73351" y="7208997"/>
            <a:ext cx="147104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М.С. Шиков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488984" y="6963251"/>
            <a:ext cx="163553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88984" y="7208997"/>
            <a:ext cx="163553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А.Г. Тавитов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585395" y="6963251"/>
            <a:ext cx="331285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8F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НИТУ «МИСИС» · МОСКВА · 2026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1802</Words>
  <Application>Microsoft Office PowerPoint</Application>
  <PresentationFormat>Произвольный</PresentationFormat>
  <Paragraphs>317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Макс Шиков</cp:lastModifiedBy>
  <cp:revision>7</cp:revision>
  <dcterms:created xsi:type="dcterms:W3CDTF">2026-06-21T18:02:49Z</dcterms:created>
  <dcterms:modified xsi:type="dcterms:W3CDTF">2026-06-22T19:37:52Z</dcterms:modified>
</cp:coreProperties>
</file>